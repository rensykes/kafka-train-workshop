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32"/>
  </p:notesMasterIdLst>
  <p:handoutMasterIdLst>
    <p:handoutMasterId r:id="rId33"/>
  </p:handoutMasterIdLst>
  <p:sldIdLst>
    <p:sldId id="2942" r:id="rId2"/>
    <p:sldId id="4734" r:id="rId3"/>
    <p:sldId id="4690" r:id="rId4"/>
    <p:sldId id="4741" r:id="rId5"/>
    <p:sldId id="4701" r:id="rId6"/>
    <p:sldId id="4742" r:id="rId7"/>
    <p:sldId id="4715" r:id="rId8"/>
    <p:sldId id="4705" r:id="rId9"/>
    <p:sldId id="4706" r:id="rId10"/>
    <p:sldId id="4707" r:id="rId11"/>
    <p:sldId id="4708" r:id="rId12"/>
    <p:sldId id="4709" r:id="rId13"/>
    <p:sldId id="4733" r:id="rId14"/>
    <p:sldId id="4747" r:id="rId15"/>
    <p:sldId id="4716" r:id="rId16"/>
    <p:sldId id="4711" r:id="rId17"/>
    <p:sldId id="4743" r:id="rId18"/>
    <p:sldId id="4744" r:id="rId19"/>
    <p:sldId id="4713" r:id="rId20"/>
    <p:sldId id="4712" r:id="rId21"/>
    <p:sldId id="4714" r:id="rId22"/>
    <p:sldId id="4730" r:id="rId23"/>
    <p:sldId id="4731" r:id="rId24"/>
    <p:sldId id="4718" r:id="rId25"/>
    <p:sldId id="4721" r:id="rId26"/>
    <p:sldId id="4723" r:id="rId27"/>
    <p:sldId id="4725" r:id="rId28"/>
    <p:sldId id="4726" r:id="rId29"/>
    <p:sldId id="4727" r:id="rId30"/>
    <p:sldId id="472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0135"/>
    <a:srgbClr val="A49D9A"/>
    <a:srgbClr val="B2A28C"/>
    <a:srgbClr val="9D9FA0"/>
    <a:srgbClr val="A70C35"/>
    <a:srgbClr val="F1F1F1"/>
    <a:srgbClr val="D6D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37E65B-6A16-448B-A772-D10CAD638DB3}" v="3" dt="2025-11-13T15:47:00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84" autoAdjust="0"/>
    <p:restoredTop sz="45110" autoAdjust="0"/>
  </p:normalViewPr>
  <p:slideViewPr>
    <p:cSldViewPr snapToGrid="0">
      <p:cViewPr varScale="1">
        <p:scale>
          <a:sx n="71" d="100"/>
          <a:sy n="71" d="100"/>
        </p:scale>
        <p:origin x="369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e Caccia" userId="a216af13-c220-410a-8399-b94aeaca2ee0" providerId="ADAL" clId="{CEDC06A8-6D3D-402C-BBAA-58D2D587E4A0}"/>
    <pc:docChg chg="custSel modSld">
      <pc:chgData name="Michele Caccia" userId="a216af13-c220-410a-8399-b94aeaca2ee0" providerId="ADAL" clId="{CEDC06A8-6D3D-402C-BBAA-58D2D587E4A0}" dt="2025-11-14T11:55:39.373" v="265" actId="20577"/>
      <pc:docMkLst>
        <pc:docMk/>
      </pc:docMkLst>
      <pc:sldChg chg="modNotesTx">
        <pc:chgData name="Michele Caccia" userId="a216af13-c220-410a-8399-b94aeaca2ee0" providerId="ADAL" clId="{CEDC06A8-6D3D-402C-BBAA-58D2D587E4A0}" dt="2025-11-14T11:53:57.267" v="249" actId="20577"/>
        <pc:sldMkLst>
          <pc:docMk/>
          <pc:sldMk cId="0" sldId="2942"/>
        </pc:sldMkLst>
      </pc:sldChg>
      <pc:sldChg chg="modNotesTx">
        <pc:chgData name="Michele Caccia" userId="a216af13-c220-410a-8399-b94aeaca2ee0" providerId="ADAL" clId="{CEDC06A8-6D3D-402C-BBAA-58D2D587E4A0}" dt="2025-11-14T11:54:08.979" v="251" actId="20577"/>
        <pc:sldMkLst>
          <pc:docMk/>
          <pc:sldMk cId="1140061108" sldId="4690"/>
        </pc:sldMkLst>
      </pc:sldChg>
      <pc:sldChg chg="modNotesTx">
        <pc:chgData name="Michele Caccia" userId="a216af13-c220-410a-8399-b94aeaca2ee0" providerId="ADAL" clId="{CEDC06A8-6D3D-402C-BBAA-58D2D587E4A0}" dt="2025-11-14T11:54:13.037" v="252" actId="20577"/>
        <pc:sldMkLst>
          <pc:docMk/>
          <pc:sldMk cId="1539612469" sldId="4701"/>
        </pc:sldMkLst>
      </pc:sldChg>
      <pc:sldChg chg="modSp mod modNotesTx">
        <pc:chgData name="Michele Caccia" userId="a216af13-c220-410a-8399-b94aeaca2ee0" providerId="ADAL" clId="{CEDC06A8-6D3D-402C-BBAA-58D2D587E4A0}" dt="2025-11-14T11:54:25.767" v="255" actId="20577"/>
        <pc:sldMkLst>
          <pc:docMk/>
          <pc:sldMk cId="403572333" sldId="4706"/>
        </pc:sldMkLst>
        <pc:spChg chg="mod">
          <ac:chgData name="Michele Caccia" userId="a216af13-c220-410a-8399-b94aeaca2ee0" providerId="ADAL" clId="{CEDC06A8-6D3D-402C-BBAA-58D2D587E4A0}" dt="2025-11-13T15:47:02.130" v="242" actId="20577"/>
          <ac:spMkLst>
            <pc:docMk/>
            <pc:sldMk cId="403572333" sldId="4706"/>
            <ac:spMk id="4" creationId="{35D133D3-10C4-A751-9690-AA4EB7449129}"/>
          </ac:spMkLst>
        </pc:spChg>
      </pc:sldChg>
      <pc:sldChg chg="modNotesTx">
        <pc:chgData name="Michele Caccia" userId="a216af13-c220-410a-8399-b94aeaca2ee0" providerId="ADAL" clId="{CEDC06A8-6D3D-402C-BBAA-58D2D587E4A0}" dt="2025-11-14T11:54:29.350" v="256" actId="20577"/>
        <pc:sldMkLst>
          <pc:docMk/>
          <pc:sldMk cId="2078258116" sldId="4707"/>
        </pc:sldMkLst>
      </pc:sldChg>
      <pc:sldChg chg="modNotesTx">
        <pc:chgData name="Michele Caccia" userId="a216af13-c220-410a-8399-b94aeaca2ee0" providerId="ADAL" clId="{CEDC06A8-6D3D-402C-BBAA-58D2D587E4A0}" dt="2025-11-14T11:54:32.685" v="257" actId="20577"/>
        <pc:sldMkLst>
          <pc:docMk/>
          <pc:sldMk cId="1926166388" sldId="4708"/>
        </pc:sldMkLst>
      </pc:sldChg>
      <pc:sldChg chg="modSp mod modNotesTx">
        <pc:chgData name="Michele Caccia" userId="a216af13-c220-410a-8399-b94aeaca2ee0" providerId="ADAL" clId="{CEDC06A8-6D3D-402C-BBAA-58D2D587E4A0}" dt="2025-11-14T11:54:34.901" v="258" actId="20577"/>
        <pc:sldMkLst>
          <pc:docMk/>
          <pc:sldMk cId="4242279657" sldId="4709"/>
        </pc:sldMkLst>
        <pc:picChg chg="mod">
          <ac:chgData name="Michele Caccia" userId="a216af13-c220-410a-8399-b94aeaca2ee0" providerId="ADAL" clId="{CEDC06A8-6D3D-402C-BBAA-58D2D587E4A0}" dt="2025-11-13T15:50:14.397" v="243" actId="14100"/>
          <ac:picMkLst>
            <pc:docMk/>
            <pc:sldMk cId="4242279657" sldId="4709"/>
            <ac:picMk id="9" creationId="{BA4B9BAB-C019-6632-973B-6AD108804791}"/>
          </ac:picMkLst>
        </pc:picChg>
        <pc:picChg chg="mod">
          <ac:chgData name="Michele Caccia" userId="a216af13-c220-410a-8399-b94aeaca2ee0" providerId="ADAL" clId="{CEDC06A8-6D3D-402C-BBAA-58D2D587E4A0}" dt="2025-11-13T15:50:25.237" v="244" actId="14100"/>
          <ac:picMkLst>
            <pc:docMk/>
            <pc:sldMk cId="4242279657" sldId="4709"/>
            <ac:picMk id="10" creationId="{7DE485D2-7E2C-34A7-ABDF-44277BED271A}"/>
          </ac:picMkLst>
        </pc:picChg>
        <pc:picChg chg="mod">
          <ac:chgData name="Michele Caccia" userId="a216af13-c220-410a-8399-b94aeaca2ee0" providerId="ADAL" clId="{CEDC06A8-6D3D-402C-BBAA-58D2D587E4A0}" dt="2025-11-13T15:50:30.955" v="245" actId="14100"/>
          <ac:picMkLst>
            <pc:docMk/>
            <pc:sldMk cId="4242279657" sldId="4709"/>
            <ac:picMk id="11" creationId="{EB39709A-FB14-7753-2126-73140285D89B}"/>
          </ac:picMkLst>
        </pc:picChg>
      </pc:sldChg>
      <pc:sldChg chg="modNotesTx">
        <pc:chgData name="Michele Caccia" userId="a216af13-c220-410a-8399-b94aeaca2ee0" providerId="ADAL" clId="{CEDC06A8-6D3D-402C-BBAA-58D2D587E4A0}" dt="2025-11-14T11:54:45.791" v="261" actId="20577"/>
        <pc:sldMkLst>
          <pc:docMk/>
          <pc:sldMk cId="2600388707" sldId="4711"/>
        </pc:sldMkLst>
      </pc:sldChg>
      <pc:sldChg chg="modNotesTx">
        <pc:chgData name="Michele Caccia" userId="a216af13-c220-410a-8399-b94aeaca2ee0" providerId="ADAL" clId="{CEDC06A8-6D3D-402C-BBAA-58D2D587E4A0}" dt="2025-11-14T11:54:54.780" v="264" actId="20577"/>
        <pc:sldMkLst>
          <pc:docMk/>
          <pc:sldMk cId="840469207" sldId="4712"/>
        </pc:sldMkLst>
      </pc:sldChg>
      <pc:sldChg chg="modNotesTx">
        <pc:chgData name="Michele Caccia" userId="a216af13-c220-410a-8399-b94aeaca2ee0" providerId="ADAL" clId="{CEDC06A8-6D3D-402C-BBAA-58D2D587E4A0}" dt="2025-11-14T11:55:39.373" v="265" actId="20577"/>
        <pc:sldMkLst>
          <pc:docMk/>
          <pc:sldMk cId="3985142014" sldId="4714"/>
        </pc:sldMkLst>
      </pc:sldChg>
      <pc:sldChg chg="modNotesTx">
        <pc:chgData name="Michele Caccia" userId="a216af13-c220-410a-8399-b94aeaca2ee0" providerId="ADAL" clId="{CEDC06A8-6D3D-402C-BBAA-58D2D587E4A0}" dt="2025-11-14T11:54:19.365" v="254" actId="20577"/>
        <pc:sldMkLst>
          <pc:docMk/>
          <pc:sldMk cId="798265361" sldId="4715"/>
        </pc:sldMkLst>
      </pc:sldChg>
      <pc:sldChg chg="modSp mod">
        <pc:chgData name="Michele Caccia" userId="a216af13-c220-410a-8399-b94aeaca2ee0" providerId="ADAL" clId="{CEDC06A8-6D3D-402C-BBAA-58D2D587E4A0}" dt="2025-11-13T15:19:52.714" v="227" actId="20577"/>
        <pc:sldMkLst>
          <pc:docMk/>
          <pc:sldMk cId="355866527" sldId="4718"/>
        </pc:sldMkLst>
        <pc:spChg chg="mod">
          <ac:chgData name="Michele Caccia" userId="a216af13-c220-410a-8399-b94aeaca2ee0" providerId="ADAL" clId="{CEDC06A8-6D3D-402C-BBAA-58D2D587E4A0}" dt="2025-11-13T15:19:52.714" v="227" actId="20577"/>
          <ac:spMkLst>
            <pc:docMk/>
            <pc:sldMk cId="355866527" sldId="4718"/>
            <ac:spMk id="4" creationId="{006EAA37-2EEB-6452-C1D1-39E0E2A62BD5}"/>
          </ac:spMkLst>
        </pc:spChg>
      </pc:sldChg>
      <pc:sldChg chg="modSp mod">
        <pc:chgData name="Michele Caccia" userId="a216af13-c220-410a-8399-b94aeaca2ee0" providerId="ADAL" clId="{CEDC06A8-6D3D-402C-BBAA-58D2D587E4A0}" dt="2025-11-13T15:51:40.351" v="247" actId="1076"/>
        <pc:sldMkLst>
          <pc:docMk/>
          <pc:sldMk cId="1543629822" sldId="4728"/>
        </pc:sldMkLst>
        <pc:spChg chg="mod">
          <ac:chgData name="Michele Caccia" userId="a216af13-c220-410a-8399-b94aeaca2ee0" providerId="ADAL" clId="{CEDC06A8-6D3D-402C-BBAA-58D2D587E4A0}" dt="2025-11-13T15:51:40.351" v="247" actId="1076"/>
          <ac:spMkLst>
            <pc:docMk/>
            <pc:sldMk cId="1543629822" sldId="4728"/>
            <ac:spMk id="2" creationId="{D76B1134-5846-642C-AA8B-3F36376386F0}"/>
          </ac:spMkLst>
        </pc:spChg>
      </pc:sldChg>
      <pc:sldChg chg="modSp mod modNotesTx">
        <pc:chgData name="Michele Caccia" userId="a216af13-c220-410a-8399-b94aeaca2ee0" providerId="ADAL" clId="{CEDC06A8-6D3D-402C-BBAA-58D2D587E4A0}" dt="2025-11-14T11:54:38.476" v="259" actId="20577"/>
        <pc:sldMkLst>
          <pc:docMk/>
          <pc:sldMk cId="3958010335" sldId="4733"/>
        </pc:sldMkLst>
        <pc:spChg chg="mod">
          <ac:chgData name="Michele Caccia" userId="a216af13-c220-410a-8399-b94aeaca2ee0" providerId="ADAL" clId="{CEDC06A8-6D3D-402C-BBAA-58D2D587E4A0}" dt="2025-11-13T14:20:21.470" v="182" actId="14100"/>
          <ac:spMkLst>
            <pc:docMk/>
            <pc:sldMk cId="3958010335" sldId="4733"/>
            <ac:spMk id="6" creationId="{DDEE805D-F0F9-2D21-78D9-D5C79A922645}"/>
          </ac:spMkLst>
        </pc:spChg>
      </pc:sldChg>
      <pc:sldChg chg="modNotesTx">
        <pc:chgData name="Michele Caccia" userId="a216af13-c220-410a-8399-b94aeaca2ee0" providerId="ADAL" clId="{CEDC06A8-6D3D-402C-BBAA-58D2D587E4A0}" dt="2025-11-14T11:54:05.904" v="250" actId="20577"/>
        <pc:sldMkLst>
          <pc:docMk/>
          <pc:sldMk cId="441848333" sldId="4734"/>
        </pc:sldMkLst>
      </pc:sldChg>
      <pc:sldChg chg="modNotesTx">
        <pc:chgData name="Michele Caccia" userId="a216af13-c220-410a-8399-b94aeaca2ee0" providerId="ADAL" clId="{CEDC06A8-6D3D-402C-BBAA-58D2D587E4A0}" dt="2025-11-14T11:54:16.437" v="253" actId="20577"/>
        <pc:sldMkLst>
          <pc:docMk/>
          <pc:sldMk cId="1269291436" sldId="4742"/>
        </pc:sldMkLst>
      </pc:sldChg>
      <pc:sldChg chg="modNotesTx">
        <pc:chgData name="Michele Caccia" userId="a216af13-c220-410a-8399-b94aeaca2ee0" providerId="ADAL" clId="{CEDC06A8-6D3D-402C-BBAA-58D2D587E4A0}" dt="2025-11-14T11:54:48.485" v="262" actId="20577"/>
        <pc:sldMkLst>
          <pc:docMk/>
          <pc:sldMk cId="752633858" sldId="4743"/>
        </pc:sldMkLst>
      </pc:sldChg>
      <pc:sldChg chg="modNotesTx">
        <pc:chgData name="Michele Caccia" userId="a216af13-c220-410a-8399-b94aeaca2ee0" providerId="ADAL" clId="{CEDC06A8-6D3D-402C-BBAA-58D2D587E4A0}" dt="2025-11-14T11:54:50.605" v="263" actId="20577"/>
        <pc:sldMkLst>
          <pc:docMk/>
          <pc:sldMk cId="1954205767" sldId="4744"/>
        </pc:sldMkLst>
      </pc:sldChg>
      <pc:sldChg chg="modNotesTx">
        <pc:chgData name="Michele Caccia" userId="a216af13-c220-410a-8399-b94aeaca2ee0" providerId="ADAL" clId="{CEDC06A8-6D3D-402C-BBAA-58D2D587E4A0}" dt="2025-11-14T11:54:40.858" v="260" actId="20577"/>
        <pc:sldMkLst>
          <pc:docMk/>
          <pc:sldMk cId="1107155910" sldId="47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449EE1-634A-981D-3271-AC9F58FD6F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C527C-A463-6AEC-5AD8-2E6B477930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1D2D7-BE90-4625-B061-1E1B221DF97F}" type="datetimeFigureOut">
              <a:rPr lang="it-IT" smtClean="0"/>
              <a:t>14/11/2025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C58A2-97F5-8D5E-6B6F-B52253F823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51C10-3B03-3647-8B71-7BA65F07C7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8A5FA-B5D5-468F-B27B-155760935A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6541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F6E74-E5C0-4B77-ADAE-32D9660A5AA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84732-BEA2-48B4-9D48-EA41EE6BB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28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egnaposto immagine diapositiva 1">
            <a:extLst>
              <a:ext uri="{FF2B5EF4-FFF2-40B4-BE49-F238E27FC236}">
                <a16:creationId xmlns:a16="http://schemas.microsoft.com/office/drawing/2014/main" id="{7C17BEE4-AE9A-4CD3-BBDA-00F5E740F7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96259" name="Segnaposto note 2">
            <a:extLst>
              <a:ext uri="{FF2B5EF4-FFF2-40B4-BE49-F238E27FC236}">
                <a16:creationId xmlns:a16="http://schemas.microsoft.com/office/drawing/2014/main" id="{6847616F-35C4-47EC-A318-F77C29FAD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 dirty="0"/>
          </a:p>
        </p:txBody>
      </p:sp>
      <p:sp>
        <p:nvSpPr>
          <p:cNvPr id="96260" name="Segnaposto numero diapositiva 3">
            <a:extLst>
              <a:ext uri="{FF2B5EF4-FFF2-40B4-BE49-F238E27FC236}">
                <a16:creationId xmlns:a16="http://schemas.microsoft.com/office/drawing/2014/main" id="{E7BE43F0-7C9E-4AF5-ADD3-9DF2104673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458F910-1A36-417E-875F-C199A0048251}" type="slidenum">
              <a:rPr lang="en-US" altLang="it-IT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it-IT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8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15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FAB57-1E0F-8C73-BDF1-E1808727E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615D2-2EEA-6755-CD9F-02BCEC1AF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E0C33-92CE-18B8-3FC4-F8277A701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512B9-BD05-DC3B-6324-0D9EFA0B2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76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9F9E-CD92-FDF4-2008-2F404750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DBBC3-ADC4-E5F5-8778-F70C610D1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6399E-33A7-13B7-8942-F569D4B3F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DCF35-0782-30C6-48AE-41CED1B44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62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957D7-4D11-6ABE-7BA7-0DFF2FA72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B8355-5DB4-D67F-A0A7-BC3612C51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D0738-45F5-94F2-9952-C1DB31C11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9F4B4-865E-D3F0-6E81-A0398C274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96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F8603-BF30-62FE-2851-B4B94094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1DE72-EFAB-D11D-C1AC-405C0495D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69097-CC22-E845-176C-A7158721A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B23DE-688B-9044-512E-6B8D6F2AA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69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E5DD4-321A-85F2-593F-21104E54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F4CAC-1628-A219-17D0-3E68CE109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63406-6357-6372-3891-B97803DC8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3CA7B-087F-C2DB-3195-4F5FF3C3D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45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67B85-DC67-3C27-F3D2-CB8A6596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69031-DAFA-127B-1CF1-B12A7B5FC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BD1AC-1FD9-3E24-9809-CF7C3DF66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22AA2-7F8D-C25A-D074-C1FE9478C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97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D4F0D-A28E-B61F-1A6E-CAE8EA18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C6931-5E9E-D0B9-B714-009BAA845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8B906-0760-3D51-F7DD-FCF71ED13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6FE89-3F08-23A5-5777-7CBFFA051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19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15BE-2EBF-7AD7-C386-18854F31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F2D69-D5BA-BA01-761E-D3B449D56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26FCF-1E3F-4AAD-F2C0-BDA3F3427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456AE-93AA-B97A-9EF9-66F7C5C5B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58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3E6B6-2D38-4B48-2AEF-85F30EF91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0DBD0-9D09-ED4C-EE36-68E1A02A4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1E4DD-6BD6-6258-A2C9-51B3978D2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674DE-274B-7654-F044-C89559FE1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02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B402-A8C3-9A37-8A59-06060B79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95BCA-3B6D-0B5A-5AFC-B58E0A5A8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CC5D1-F1B7-972F-8822-41B288338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2C24A-C6FF-0938-5B59-CA4D33B69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23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7CB5-564A-D968-A3A4-C1CFAF40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2AE06-4D6B-9969-F04D-C416EAF8E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2C988-C02C-5C7D-BD33-4A09B7C6F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3ED01-BAFB-D944-B173-5C07834FD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44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759BE-F097-2606-48D0-C0B19F2BB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25B08-E289-CD90-DB8D-EE0F1B3B4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75D93-C370-D605-60F6-39F0720C6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DC6CB-3FA2-2763-B950-95E4864CB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31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5B170-4DD1-1D57-3105-A9210540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1C898-BE39-0980-7C64-9B4FD9D41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6CD016-F26B-078E-A6D9-B5AA4E300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E750D-87D2-40B4-DC78-ED0236AFC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53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0C56C-2B4C-B901-E229-F6100DA6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AB2FC-452A-CD9E-9386-9C3C28146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D57F3-0205-E4A1-B834-E8A901417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A5380-9E03-E217-67C4-79DBE0E7A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704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011C6-3240-D131-80F9-29AA0C83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72794-1D34-C964-0565-EAA78CED9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63ED6-5963-859F-E7B9-B9179DFC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E6072-97A0-58EC-A396-71AB14F58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33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F227B-6FEC-1B8A-0471-F50F6BF4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1DA47-BF9A-D623-BD5C-0B8A6AA3D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4E55E-622F-D999-4ED6-A33CA122F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BB911-D6A1-B631-8F5A-E2A81DC3E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374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9D9F6-595C-2B92-AB66-62069E8C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8EA1D-1B86-7A7E-89AA-62DCA1BB2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F390F-41CB-1DF6-54E9-FF2ABC371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06E1F-97A8-4289-5B23-5FE72DC8F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595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A2096-C71D-113E-8385-ED6F6349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4D489-AF6E-DF8C-83A7-16BA8B2D4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DE719A-D494-77F7-32E1-047F1639B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E5C6E-CE6A-58A4-026E-5CF0DE970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053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066B-E0D1-C2EF-2519-74646B6D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8D066-4ACA-6AC1-2F30-B5017B772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365C3-1858-86A3-6AA3-CE475EF4A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01C11-69EB-0831-C871-60F04C418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971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F32A-8927-2F27-2E29-31E4F37F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C54CB-857C-1221-4C50-88AEE21B3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CDBF9-B63A-176F-802E-32232BC47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2D0F7-B825-9C81-A09E-E93DCC58F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449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54DE-AF4D-E6D8-F6AD-778586FF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10B21-D1D0-EE03-AADA-FBFA99836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E376E-C9DA-38AF-3093-603B4AD85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1D9AC-0BCC-DBB6-B338-FAC816174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210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3ED8-59C2-083B-D33B-6320C4803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4CFE9-2FC8-77E0-5BE5-1DE95C38F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E5890-0B23-8E6A-90EF-E6894B694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C4697-ABB0-88DB-63F7-F2D21E548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657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DA7A7-8D77-B870-2000-6D95C1577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3DC91-A779-7F42-3B4E-B1D7FDF93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F83F2-47BF-D031-D5E6-1C94E80D4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A038-1669-4A18-2EAF-B75F12ADA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81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D4ADE-974B-1105-F65E-0E2F21A8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D98EB-0C03-CD97-4202-73AB8BFED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3422A-B2C3-38F1-930E-E88CEA514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97A46-150C-7648-EF0D-524F83D09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006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5F3C9-A2FB-20F8-7EA6-04F3ABFDC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0794D-16AF-C5A3-A020-A1E171E5C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18CB7-7106-7B61-B68E-AFC208BEC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15FE0-7C27-B899-FEFA-4BB7E5153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70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7AE0B-3073-4DAD-51CD-35914107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66469-90F6-F9B3-92C4-61515779D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3DD08-D4D6-CEAA-F823-70DD8EC6D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463EC-52DD-0115-6BBA-18147702E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554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0EA77-5C2B-6EAC-062D-2BE55E38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4A275-77A2-562E-EE4A-C6F230413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42051-D010-6FE0-217A-DF7DA938F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DC170-59B0-EC14-3892-40506D701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84732-BEA2-48B4-9D48-EA41EE6BBB5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80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zza cornice 5">
            <a:extLst>
              <a:ext uri="{FF2B5EF4-FFF2-40B4-BE49-F238E27FC236}">
                <a16:creationId xmlns:a16="http://schemas.microsoft.com/office/drawing/2014/main" id="{2384BFC2-3FDE-4B81-9C99-88B9569C68C2}"/>
              </a:ext>
            </a:extLst>
          </p:cNvPr>
          <p:cNvSpPr/>
          <p:nvPr userDrawn="1"/>
        </p:nvSpPr>
        <p:spPr>
          <a:xfrm rot="16200000">
            <a:off x="1416050" y="5253038"/>
            <a:ext cx="431800" cy="2400300"/>
          </a:xfrm>
          <a:prstGeom prst="halfFrame">
            <a:avLst>
              <a:gd name="adj1" fmla="val 13735"/>
              <a:gd name="adj2" fmla="val 14104"/>
            </a:avLst>
          </a:prstGeom>
          <a:solidFill>
            <a:srgbClr val="A70C35"/>
          </a:solidFill>
          <a:ln>
            <a:solidFill>
              <a:srgbClr val="A70C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F93D7BD-4A4F-45A7-BD28-6A8DD2F44C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386" y="266387"/>
            <a:ext cx="1983588" cy="6915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A0B49F5-B23B-235F-85D5-E134AB9E9D0E}"/>
              </a:ext>
            </a:extLst>
          </p:cNvPr>
          <p:cNvGrpSpPr/>
          <p:nvPr userDrawn="1"/>
        </p:nvGrpSpPr>
        <p:grpSpPr>
          <a:xfrm>
            <a:off x="533546" y="4806279"/>
            <a:ext cx="2086226" cy="1719385"/>
            <a:chOff x="344359" y="4470400"/>
            <a:chExt cx="2086226" cy="1776264"/>
          </a:xfrm>
        </p:grpSpPr>
        <p:pic>
          <p:nvPicPr>
            <p:cNvPr id="3" name="Picture 2" descr="A qr code with a few black squares&#10;&#10;AI-generated content may be incorrect.">
              <a:extLst>
                <a:ext uri="{FF2B5EF4-FFF2-40B4-BE49-F238E27FC236}">
                  <a16:creationId xmlns:a16="http://schemas.microsoft.com/office/drawing/2014/main" id="{683043E6-95E7-62F1-94FA-7A9F8F710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702" y="4470400"/>
              <a:ext cx="1123540" cy="112993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E99836-A86A-01A0-8F1E-758C2CC947FC}"/>
                </a:ext>
              </a:extLst>
            </p:cNvPr>
            <p:cNvSpPr txBox="1"/>
            <p:nvPr/>
          </p:nvSpPr>
          <p:spPr>
            <a:xfrm>
              <a:off x="344359" y="5600333"/>
              <a:ext cx="20862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>
                  <a:latin typeface="+mn-lt"/>
                  <a:ea typeface="ADLaM Display" panose="02010000000000000000" pitchFamily="2" charset="0"/>
                  <a:cs typeface="ADLaM Display" panose="02010000000000000000" pitchFamily="2" charset="0"/>
                </a:rPr>
                <a:t>Fincons Tech Hub</a:t>
              </a:r>
            </a:p>
            <a:p>
              <a:pPr algn="ctr"/>
              <a:r>
                <a:rPr lang="it-IT" sz="1600" dirty="0">
                  <a:latin typeface="+mn-lt"/>
                  <a:ea typeface="ADLaM Display" panose="02010000000000000000" pitchFamily="2" charset="0"/>
                  <a:cs typeface="ADLaM Display" panose="02010000000000000000" pitchFamily="2" charset="0"/>
                </a:rPr>
                <a:t>Java Spring Time</a:t>
              </a:r>
              <a:r>
                <a:rPr lang="it-IT" dirty="0">
                  <a:latin typeface="+mn-lt"/>
                  <a:ea typeface="ADLaM Display" panose="02010000000000000000" pitchFamily="2" charset="0"/>
                  <a:cs typeface="ADLaM Display" panose="02010000000000000000" pitchFamily="2" charset="0"/>
                </a:rPr>
                <a:t> </a:t>
              </a:r>
            </a:p>
          </p:txBody>
        </p:sp>
      </p:grpSp>
      <p:pic>
        <p:nvPicPr>
          <p:cNvPr id="7" name="Picture 6" descr="A person in a red cape&#10;&#10;AI-generated content may be incorrect.">
            <a:extLst>
              <a:ext uri="{FF2B5EF4-FFF2-40B4-BE49-F238E27FC236}">
                <a16:creationId xmlns:a16="http://schemas.microsoft.com/office/drawing/2014/main" id="{F524DEA5-E59B-29E5-7A05-E5AAF669A6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056" y="1781519"/>
            <a:ext cx="5049865" cy="343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6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60: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1A642CB-E33B-4212-898D-156D8E790C51}"/>
              </a:ext>
            </a:extLst>
          </p:cNvPr>
          <p:cNvSpPr txBox="1"/>
          <p:nvPr userDrawn="1"/>
        </p:nvSpPr>
        <p:spPr>
          <a:xfrm>
            <a:off x="11723261" y="6449270"/>
            <a:ext cx="3758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3FCB66-38A3-4323-BD26-F265C2585804}" type="slidenum"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" name="Picture 1" descr="A person in a red cape&#10;&#10;AI-generated content may be incorrect.">
            <a:extLst>
              <a:ext uri="{FF2B5EF4-FFF2-40B4-BE49-F238E27FC236}">
                <a16:creationId xmlns:a16="http://schemas.microsoft.com/office/drawing/2014/main" id="{27D95453-0A9F-E225-EADD-E439ED78B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5019" y="6196869"/>
            <a:ext cx="886576" cy="6035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8FEDF1-3FF7-0953-87AA-B761DFB20A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960517"/>
            <a:ext cx="2757026" cy="189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0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BD752-B5C8-4115-8B0B-6258BBA4F3F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C3B79-9517-41FE-8F50-321B685A0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nfluent.io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nsykes/kafka-train-workshop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0A123E-8E29-9F3E-071B-87FA700057BF}"/>
              </a:ext>
            </a:extLst>
          </p:cNvPr>
          <p:cNvSpPr txBox="1"/>
          <p:nvPr/>
        </p:nvSpPr>
        <p:spPr>
          <a:xfrm>
            <a:off x="3191694" y="3105834"/>
            <a:ext cx="3046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A70C35"/>
                </a:solidFill>
              </a:rPr>
              <a:t>Daniele Gallitelli</a:t>
            </a:r>
          </a:p>
          <a:p>
            <a:r>
              <a:rPr lang="it-IT" dirty="0"/>
              <a:t>Software Eng. – Senior Analyst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5AE9F-9B48-747B-2AE9-74736656D098}"/>
              </a:ext>
            </a:extLst>
          </p:cNvPr>
          <p:cNvSpPr txBox="1"/>
          <p:nvPr/>
        </p:nvSpPr>
        <p:spPr>
          <a:xfrm>
            <a:off x="7699240" y="1318790"/>
            <a:ext cx="3035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A70C35"/>
                </a:solidFill>
              </a:rPr>
              <a:t>Francesco </a:t>
            </a:r>
            <a:r>
              <a:rPr lang="it-IT" dirty="0" err="1">
                <a:solidFill>
                  <a:srgbClr val="A70C35"/>
                </a:solidFill>
              </a:rPr>
              <a:t>Lacriola</a:t>
            </a:r>
            <a:endParaRPr lang="it-IT" dirty="0">
              <a:solidFill>
                <a:srgbClr val="A70C35"/>
              </a:solidFill>
            </a:endParaRPr>
          </a:p>
          <a:p>
            <a:r>
              <a:rPr lang="it-IT" dirty="0"/>
              <a:t>Software Eng. – Senior Analyst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32B36-5583-8451-F346-E94AF4C7932B}"/>
              </a:ext>
            </a:extLst>
          </p:cNvPr>
          <p:cNvSpPr txBox="1"/>
          <p:nvPr/>
        </p:nvSpPr>
        <p:spPr>
          <a:xfrm>
            <a:off x="7699240" y="4892879"/>
            <a:ext cx="4025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A70C35"/>
                </a:solidFill>
              </a:rPr>
              <a:t>Michele Caccia</a:t>
            </a:r>
          </a:p>
          <a:p>
            <a:r>
              <a:rPr lang="it-IT" dirty="0"/>
              <a:t>Senior Software Eng. – Senior Consultant</a:t>
            </a:r>
          </a:p>
        </p:txBody>
      </p:sp>
      <p:pic>
        <p:nvPicPr>
          <p:cNvPr id="13" name="Picture 12" descr="A person smiling for a selfie&#10;&#10;AI-generated content may be incorrect.">
            <a:extLst>
              <a:ext uri="{FF2B5EF4-FFF2-40B4-BE49-F238E27FC236}">
                <a16:creationId xmlns:a16="http://schemas.microsoft.com/office/drawing/2014/main" id="{10FA451E-E946-7A00-AAD7-F73ED9BEC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090" y="597380"/>
            <a:ext cx="2089150" cy="20891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 descr="A person smiling for a selfie&#10;&#10;AI-generated content may be incorrect.">
            <a:extLst>
              <a:ext uri="{FF2B5EF4-FFF2-40B4-BE49-F238E27FC236}">
                <a16:creationId xmlns:a16="http://schemas.microsoft.com/office/drawing/2014/main" id="{876E64D8-BF5F-1EBB-7F6C-763541CB2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94" y="2251279"/>
            <a:ext cx="2324100" cy="23241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 descr="A person in a white shirt&#10;&#10;AI-generated content may be incorrect.">
            <a:extLst>
              <a:ext uri="{FF2B5EF4-FFF2-40B4-BE49-F238E27FC236}">
                <a16:creationId xmlns:a16="http://schemas.microsoft.com/office/drawing/2014/main" id="{DB559150-89E4-2D67-4C77-264D526137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140" y="4053994"/>
            <a:ext cx="2324100" cy="23241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4184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AF482D4C-9CE2-E441-776C-1080F144EB71}"/>
              </a:ext>
            </a:extLst>
          </p:cNvPr>
          <p:cNvSpPr txBox="1">
            <a:spLocks/>
          </p:cNvSpPr>
          <p:nvPr/>
        </p:nvSpPr>
        <p:spPr bwMode="auto">
          <a:xfrm>
            <a:off x="3951039" y="479053"/>
            <a:ext cx="4289922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44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ADLaM Display" panose="02010000000000000000" pitchFamily="2" charset="0"/>
                <a:cs typeface="ADLaM Display" panose="02010000000000000000" pitchFamily="2" charset="0"/>
              </a:rPr>
              <a:t>What we’ll do today</a:t>
            </a:r>
            <a:endParaRPr lang="it-IT" dirty="0"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27117-AD64-652C-AC17-5EB28EA83DE7}"/>
              </a:ext>
            </a:extLst>
          </p:cNvPr>
          <p:cNvSpPr txBox="1"/>
          <p:nvPr/>
        </p:nvSpPr>
        <p:spPr>
          <a:xfrm>
            <a:off x="1938480" y="1582340"/>
            <a:ext cx="9788371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dirty="0">
                <a:solidFill>
                  <a:srgbClr val="0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Introduction to Apache Kafka</a:t>
            </a:r>
          </a:p>
          <a:p>
            <a:pPr marL="285750" indent="-285750">
              <a:buFont typeface="Arial"/>
              <a:buChar char="•"/>
            </a:pPr>
            <a:endParaRPr lang="it-IT" dirty="0">
              <a:solidFill>
                <a:srgbClr val="000000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Arial"/>
              <a:buChar char="•"/>
            </a:pPr>
            <a:r>
              <a:rPr lang="it-IT" dirty="0">
                <a:solidFill>
                  <a:srgbClr val="0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Build a real world, multi-service event-driven system</a:t>
            </a:r>
            <a:endParaRPr lang="en-US" dirty="0">
              <a:solidFill>
                <a:srgbClr val="000000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000000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ADLaM Display" panose="02010000000000000000" pitchFamily="2" charset="0"/>
                <a:cs typeface="ADLaM Display" panose="02010000000000000000" pitchFamily="2" charset="0"/>
              </a:rPr>
              <a:t>Simulates a fleet of trains sending real-time location data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it-IT" dirty="0">
                <a:ea typeface="ADLaM Display" panose="02010000000000000000" pitchFamily="2" charset="0"/>
                <a:cs typeface="ADLaM Display" panose="02010000000000000000" pitchFamily="2" charset="0"/>
              </a:rPr>
              <a:t>Processes data to generate insights</a:t>
            </a:r>
          </a:p>
          <a:p>
            <a:pPr marL="285750" indent="-285750">
              <a:buFont typeface="Arial"/>
              <a:buChar char="•"/>
            </a:pPr>
            <a:endParaRPr lang="it-IT" dirty="0"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ADLaM Display" panose="02010000000000000000" pitchFamily="2" charset="0"/>
                <a:cs typeface="ADLaM Display" panose="02010000000000000000" pitchFamily="2" charset="0"/>
              </a:rPr>
              <a:t>Visualizes everything on a live dashboard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it-IT" dirty="0">
                <a:ea typeface="ADLaM Display" panose="02010000000000000000" pitchFamily="2" charset="0"/>
                <a:cs typeface="ADLaM Display" panose="02010000000000000000" pitchFamily="2" charset="0"/>
              </a:rPr>
              <a:t>Uses multiple programming languages (Java &amp; Python)</a:t>
            </a:r>
          </a:p>
          <a:p>
            <a:pPr marL="742950" lvl="1" indent="-285750">
              <a:buFont typeface="Arial"/>
              <a:buChar char="•"/>
            </a:pPr>
            <a:endParaRPr lang="it-IT" dirty="0"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Arial"/>
              <a:buChar char="•"/>
            </a:pPr>
            <a:r>
              <a:rPr lang="it-IT" dirty="0">
                <a:ea typeface="ADLaM Display" panose="02010000000000000000" pitchFamily="2" charset="0"/>
                <a:cs typeface="ADLaM Display" panose="02010000000000000000" pitchFamily="2" charset="0"/>
              </a:rPr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114006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A248-26F8-7EE9-F529-83A88089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938FC452-6C12-1362-C080-3B36BF91368D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What is Apache Kafka</a:t>
            </a:r>
            <a:endParaRPr lang="it-IT" sz="3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85935F-C853-C7F6-ACE7-9FDC3294A9A8}"/>
              </a:ext>
            </a:extLst>
          </p:cNvPr>
          <p:cNvSpPr txBox="1"/>
          <p:nvPr/>
        </p:nvSpPr>
        <p:spPr>
          <a:xfrm>
            <a:off x="1200290" y="1383665"/>
            <a:ext cx="978837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Distributed streaming platform </a:t>
            </a:r>
            <a:r>
              <a:rPr lang="en-US" dirty="0"/>
              <a:t>for building real-time data pipelines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Originally developed by LinkedIn, now open-source (Apache)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High-throughput message broker</a:t>
            </a:r>
            <a:r>
              <a:rPr lang="en-US" dirty="0"/>
              <a:t>, allowing systems to publish, store, and consume </a:t>
            </a:r>
            <a:r>
              <a:rPr lang="en-US" b="1" dirty="0"/>
              <a:t>streams of records</a:t>
            </a:r>
            <a:r>
              <a:rPr lang="en-US" dirty="0"/>
              <a:t> in a </a:t>
            </a:r>
            <a:r>
              <a:rPr lang="en-US" b="1" dirty="0"/>
              <a:t>fault-tolerant and scalable</a:t>
            </a:r>
            <a:r>
              <a:rPr lang="en-US" dirty="0"/>
              <a:t> 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Durable storage</a:t>
            </a:r>
            <a:r>
              <a:rPr lang="en-US" dirty="0"/>
              <a:t> — Data is persisted on brokers disk, allowing replay and recovery.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1E011D2-B63A-5CA7-2341-3F4C7E173994}"/>
              </a:ext>
            </a:extLst>
          </p:cNvPr>
          <p:cNvGrpSpPr/>
          <p:nvPr/>
        </p:nvGrpSpPr>
        <p:grpSpPr>
          <a:xfrm>
            <a:off x="3891783" y="3880967"/>
            <a:ext cx="4405384" cy="2585323"/>
            <a:chOff x="3891784" y="3880967"/>
            <a:chExt cx="4405384" cy="258532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8918C6D-AFC4-903E-39BD-FDC0D3CD9C7D}"/>
                </a:ext>
              </a:extLst>
            </p:cNvPr>
            <p:cNvSpPr txBox="1"/>
            <p:nvPr/>
          </p:nvSpPr>
          <p:spPr>
            <a:xfrm>
              <a:off x="3891784" y="3880967"/>
              <a:ext cx="4405384" cy="258532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b="1" dirty="0"/>
                <a:t>Key Features</a:t>
              </a:r>
              <a:endParaRPr lang="it-IT" dirty="0"/>
            </a:p>
            <a:p>
              <a:endParaRPr lang="en-US" dirty="0"/>
            </a:p>
            <a:p>
              <a:r>
                <a:rPr lang="en-US" dirty="0"/>
                <a:t>	High throughput &amp; low latency</a:t>
              </a:r>
            </a:p>
            <a:p>
              <a:endParaRPr lang="en-US" dirty="0"/>
            </a:p>
            <a:p>
              <a:r>
                <a:rPr lang="en-US" dirty="0"/>
                <a:t>	Fault-tolerant &amp; scalable</a:t>
              </a:r>
            </a:p>
            <a:p>
              <a:endParaRPr lang="en-US" dirty="0"/>
            </a:p>
            <a:p>
              <a:r>
                <a:rPr lang="en-US" dirty="0"/>
                <a:t>	Persistent storage</a:t>
              </a:r>
            </a:p>
            <a:p>
              <a:endParaRPr lang="en-US" dirty="0"/>
            </a:p>
            <a:p>
              <a:r>
                <a:rPr lang="it-IT" dirty="0"/>
                <a:t>         </a:t>
              </a:r>
              <a:r>
                <a:rPr lang="en-US" dirty="0"/>
                <a:t>Real-time processing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5CA3161-D8CD-6DB9-12EA-B202A055F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33552" y="6106277"/>
              <a:ext cx="360013" cy="360013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550B794-50C5-E1C5-D4E0-9C5788E0F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33551" y="5561836"/>
              <a:ext cx="360013" cy="360013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A8B09747-76D2-5913-7C2C-E3F884F38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33550" y="5017395"/>
              <a:ext cx="360013" cy="36001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51F594C-DF27-0663-1808-8ED95B607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33550" y="4468404"/>
              <a:ext cx="360013" cy="3600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092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476BC-3501-2141-2FB3-9FBED20B2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95C96EBE-E2F6-F545-A5F1-C1189D995D05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What is Apache Kafka</a:t>
            </a:r>
            <a:endParaRPr lang="it-IT" sz="3700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6F4952F-8E7A-C8F5-D245-1C012D248C6C}"/>
              </a:ext>
            </a:extLst>
          </p:cNvPr>
          <p:cNvGrpSpPr/>
          <p:nvPr/>
        </p:nvGrpSpPr>
        <p:grpSpPr>
          <a:xfrm>
            <a:off x="1104900" y="2006600"/>
            <a:ext cx="9914138" cy="3136900"/>
            <a:chOff x="768350" y="1485900"/>
            <a:chExt cx="10263388" cy="3098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D1FB37-472A-74E8-8474-3E8945D1B65D}"/>
                </a:ext>
              </a:extLst>
            </p:cNvPr>
            <p:cNvSpPr/>
            <p:nvPr/>
          </p:nvSpPr>
          <p:spPr>
            <a:xfrm>
              <a:off x="770631" y="1485900"/>
              <a:ext cx="1574800" cy="66040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Source System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554E0C4-5BEA-3B84-8951-257C27D4FCA4}"/>
                </a:ext>
              </a:extLst>
            </p:cNvPr>
            <p:cNvSpPr/>
            <p:nvPr/>
          </p:nvSpPr>
          <p:spPr>
            <a:xfrm>
              <a:off x="1098550" y="2901950"/>
              <a:ext cx="914400" cy="266700"/>
            </a:xfrm>
            <a:prstGeom prst="ellipse">
              <a:avLst/>
            </a:prstGeom>
            <a:solidFill>
              <a:srgbClr val="9D9F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Data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34AAEC-0F10-778C-182E-7D863CA8B2AF}"/>
                </a:ext>
              </a:extLst>
            </p:cNvPr>
            <p:cNvSpPr/>
            <p:nvPr/>
          </p:nvSpPr>
          <p:spPr>
            <a:xfrm>
              <a:off x="768350" y="3924300"/>
              <a:ext cx="1574800" cy="66040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Target System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C81DC05-9E97-7F29-7B2B-A2D6420FE47A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1555750" y="2146300"/>
              <a:ext cx="2281" cy="75565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E7CD41B-E306-56EF-3513-EC371FDCD67C}"/>
                </a:ext>
              </a:extLst>
            </p:cNvPr>
            <p:cNvCxnSpPr/>
            <p:nvPr/>
          </p:nvCxnSpPr>
          <p:spPr>
            <a:xfrm flipH="1">
              <a:off x="1553469" y="3184525"/>
              <a:ext cx="2281" cy="75565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E954D77-0799-99DE-DEA2-D51792EACF89}"/>
                </a:ext>
              </a:extLst>
            </p:cNvPr>
            <p:cNvSpPr/>
            <p:nvPr/>
          </p:nvSpPr>
          <p:spPr>
            <a:xfrm>
              <a:off x="3869431" y="1485900"/>
              <a:ext cx="1574800" cy="66040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Source System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F4A172B-49DA-CBB0-9C5B-BA8EFA21129C}"/>
                </a:ext>
              </a:extLst>
            </p:cNvPr>
            <p:cNvSpPr/>
            <p:nvPr/>
          </p:nvSpPr>
          <p:spPr>
            <a:xfrm>
              <a:off x="4197350" y="2901950"/>
              <a:ext cx="914400" cy="266700"/>
            </a:xfrm>
            <a:prstGeom prst="ellipse">
              <a:avLst/>
            </a:prstGeom>
            <a:solidFill>
              <a:srgbClr val="9D9F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Data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EAEE491-70A0-9421-5761-171686AD647E}"/>
                </a:ext>
              </a:extLst>
            </p:cNvPr>
            <p:cNvSpPr/>
            <p:nvPr/>
          </p:nvSpPr>
          <p:spPr>
            <a:xfrm>
              <a:off x="3867150" y="3924300"/>
              <a:ext cx="1574800" cy="66040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Target System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36DD1D4-8A54-D4AD-0A0F-BBB53EE3453B}"/>
                </a:ext>
              </a:extLst>
            </p:cNvPr>
            <p:cNvSpPr/>
            <p:nvPr/>
          </p:nvSpPr>
          <p:spPr>
            <a:xfrm>
              <a:off x="5721350" y="1485900"/>
              <a:ext cx="1574800" cy="66040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Source System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F699868-5C14-D529-2515-E465FD3292AC}"/>
                </a:ext>
              </a:extLst>
            </p:cNvPr>
            <p:cNvSpPr/>
            <p:nvPr/>
          </p:nvSpPr>
          <p:spPr>
            <a:xfrm>
              <a:off x="5719069" y="3924300"/>
              <a:ext cx="1574800" cy="66040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Target System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2D9620B-3D61-AD49-006D-3F987D22796F}"/>
                </a:ext>
              </a:extLst>
            </p:cNvPr>
            <p:cNvSpPr/>
            <p:nvPr/>
          </p:nvSpPr>
          <p:spPr>
            <a:xfrm>
              <a:off x="7573269" y="1485900"/>
              <a:ext cx="1574800" cy="66040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Source System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862101F-C136-DDA3-0CC5-7F21B082D6D3}"/>
                </a:ext>
              </a:extLst>
            </p:cNvPr>
            <p:cNvSpPr/>
            <p:nvPr/>
          </p:nvSpPr>
          <p:spPr>
            <a:xfrm>
              <a:off x="7570988" y="3924300"/>
              <a:ext cx="1574800" cy="66040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Target System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935EFC9-E242-82CB-D761-87C8EBD5C59B}"/>
                </a:ext>
              </a:extLst>
            </p:cNvPr>
            <p:cNvSpPr/>
            <p:nvPr/>
          </p:nvSpPr>
          <p:spPr>
            <a:xfrm>
              <a:off x="9456938" y="1485900"/>
              <a:ext cx="1574800" cy="66040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Source System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2EA8351-5680-E2A6-682F-0216DFD22AF3}"/>
                </a:ext>
              </a:extLst>
            </p:cNvPr>
            <p:cNvSpPr/>
            <p:nvPr/>
          </p:nvSpPr>
          <p:spPr>
            <a:xfrm>
              <a:off x="9784857" y="2901950"/>
              <a:ext cx="914400" cy="266700"/>
            </a:xfrm>
            <a:prstGeom prst="ellipse">
              <a:avLst/>
            </a:prstGeom>
            <a:solidFill>
              <a:srgbClr val="9D9F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Data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0D3E349-1162-3F72-7126-BA481ED6E960}"/>
                </a:ext>
              </a:extLst>
            </p:cNvPr>
            <p:cNvSpPr/>
            <p:nvPr/>
          </p:nvSpPr>
          <p:spPr>
            <a:xfrm>
              <a:off x="9454657" y="3924300"/>
              <a:ext cx="1574800" cy="66040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Target System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2953C8F-B03E-736D-844D-927D9AD94101}"/>
                </a:ext>
              </a:extLst>
            </p:cNvPr>
            <p:cNvCxnSpPr>
              <a:cxnSpLocks/>
              <a:stCxn id="39" idx="2"/>
              <a:endCxn id="41" idx="0"/>
            </p:cNvCxnSpPr>
            <p:nvPr/>
          </p:nvCxnSpPr>
          <p:spPr>
            <a:xfrm flipH="1">
              <a:off x="4654550" y="2146300"/>
              <a:ext cx="2281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2A4D521-6C90-1D6A-F020-0166324F0625}"/>
                </a:ext>
              </a:extLst>
            </p:cNvPr>
            <p:cNvCxnSpPr>
              <a:cxnSpLocks/>
              <a:stCxn id="39" idx="2"/>
              <a:endCxn id="44" idx="0"/>
            </p:cNvCxnSpPr>
            <p:nvPr/>
          </p:nvCxnSpPr>
          <p:spPr>
            <a:xfrm>
              <a:off x="4656831" y="2146300"/>
              <a:ext cx="1849638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A97F6F0B-79F1-667C-1B47-71B3424CC134}"/>
                </a:ext>
              </a:extLst>
            </p:cNvPr>
            <p:cNvCxnSpPr>
              <a:cxnSpLocks/>
              <a:stCxn id="42" idx="2"/>
              <a:endCxn id="44" idx="0"/>
            </p:cNvCxnSpPr>
            <p:nvPr/>
          </p:nvCxnSpPr>
          <p:spPr>
            <a:xfrm flipH="1">
              <a:off x="6506469" y="2146300"/>
              <a:ext cx="2281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8A75D417-F123-C7EA-CD29-409D1A2D5A6D}"/>
                </a:ext>
              </a:extLst>
            </p:cNvPr>
            <p:cNvCxnSpPr>
              <a:cxnSpLocks/>
              <a:stCxn id="45" idx="2"/>
              <a:endCxn id="47" idx="0"/>
            </p:cNvCxnSpPr>
            <p:nvPr/>
          </p:nvCxnSpPr>
          <p:spPr>
            <a:xfrm flipH="1">
              <a:off x="8358388" y="2146300"/>
              <a:ext cx="2281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EB05BEB-30B3-0C73-8300-415A37FFB4C3}"/>
                </a:ext>
              </a:extLst>
            </p:cNvPr>
            <p:cNvCxnSpPr>
              <a:cxnSpLocks/>
              <a:stCxn id="48" idx="2"/>
              <a:endCxn id="50" idx="0"/>
            </p:cNvCxnSpPr>
            <p:nvPr/>
          </p:nvCxnSpPr>
          <p:spPr>
            <a:xfrm flipH="1">
              <a:off x="10242057" y="2146300"/>
              <a:ext cx="2281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B4A36758-DED5-143F-B56E-77471E339B75}"/>
                </a:ext>
              </a:extLst>
            </p:cNvPr>
            <p:cNvCxnSpPr>
              <a:cxnSpLocks/>
              <a:stCxn id="42" idx="2"/>
              <a:endCxn id="41" idx="0"/>
            </p:cNvCxnSpPr>
            <p:nvPr/>
          </p:nvCxnSpPr>
          <p:spPr>
            <a:xfrm flipH="1">
              <a:off x="4654550" y="2146300"/>
              <a:ext cx="1854200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9B8A0314-D499-D58F-FFD1-ED02125714AD}"/>
                </a:ext>
              </a:extLst>
            </p:cNvPr>
            <p:cNvCxnSpPr>
              <a:cxnSpLocks/>
              <a:stCxn id="39" idx="2"/>
              <a:endCxn id="47" idx="0"/>
            </p:cNvCxnSpPr>
            <p:nvPr/>
          </p:nvCxnSpPr>
          <p:spPr>
            <a:xfrm>
              <a:off x="4656831" y="2146300"/>
              <a:ext cx="3701557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F0533182-4FCB-4891-40EE-FF3A4761A021}"/>
                </a:ext>
              </a:extLst>
            </p:cNvPr>
            <p:cNvCxnSpPr>
              <a:cxnSpLocks/>
              <a:stCxn id="39" idx="2"/>
            </p:cNvCxnSpPr>
            <p:nvPr/>
          </p:nvCxnSpPr>
          <p:spPr>
            <a:xfrm>
              <a:off x="4656831" y="2146300"/>
              <a:ext cx="5582945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8C86F52-E899-AFB7-6BF7-8FCBCCAB59A7}"/>
                </a:ext>
              </a:extLst>
            </p:cNvPr>
            <p:cNvCxnSpPr>
              <a:cxnSpLocks/>
              <a:stCxn id="42" idx="2"/>
              <a:endCxn id="50" idx="0"/>
            </p:cNvCxnSpPr>
            <p:nvPr/>
          </p:nvCxnSpPr>
          <p:spPr>
            <a:xfrm>
              <a:off x="6508750" y="2146300"/>
              <a:ext cx="3733307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470E87B1-4384-3C0B-31FA-33D78A5D1FB8}"/>
                </a:ext>
              </a:extLst>
            </p:cNvPr>
            <p:cNvCxnSpPr>
              <a:cxnSpLocks/>
              <a:stCxn id="42" idx="2"/>
              <a:endCxn id="47" idx="0"/>
            </p:cNvCxnSpPr>
            <p:nvPr/>
          </p:nvCxnSpPr>
          <p:spPr>
            <a:xfrm>
              <a:off x="6508750" y="2146300"/>
              <a:ext cx="1849638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960C440-FB7B-6730-C690-FC7FC329E6D0}"/>
                </a:ext>
              </a:extLst>
            </p:cNvPr>
            <p:cNvCxnSpPr>
              <a:cxnSpLocks/>
              <a:stCxn id="45" idx="2"/>
              <a:endCxn id="41" idx="0"/>
            </p:cNvCxnSpPr>
            <p:nvPr/>
          </p:nvCxnSpPr>
          <p:spPr>
            <a:xfrm flipH="1">
              <a:off x="4654550" y="2146300"/>
              <a:ext cx="3706119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2051F6CC-CB27-5E41-FAD2-2B16EE214735}"/>
                </a:ext>
              </a:extLst>
            </p:cNvPr>
            <p:cNvCxnSpPr>
              <a:cxnSpLocks/>
              <a:stCxn id="45" idx="2"/>
              <a:endCxn id="44" idx="0"/>
            </p:cNvCxnSpPr>
            <p:nvPr/>
          </p:nvCxnSpPr>
          <p:spPr>
            <a:xfrm flipH="1">
              <a:off x="6506469" y="2146300"/>
              <a:ext cx="1854200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D3FDB33-0CE4-BA83-8314-8B4CF2948FDD}"/>
                </a:ext>
              </a:extLst>
            </p:cNvPr>
            <p:cNvCxnSpPr>
              <a:cxnSpLocks/>
              <a:stCxn id="45" idx="2"/>
              <a:endCxn id="50" idx="0"/>
            </p:cNvCxnSpPr>
            <p:nvPr/>
          </p:nvCxnSpPr>
          <p:spPr>
            <a:xfrm>
              <a:off x="8360669" y="2146300"/>
              <a:ext cx="1881388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11ACB751-6E5F-9E79-F6FE-73709FB633BD}"/>
                </a:ext>
              </a:extLst>
            </p:cNvPr>
            <p:cNvCxnSpPr>
              <a:cxnSpLocks/>
              <a:stCxn id="48" idx="2"/>
              <a:endCxn id="41" idx="0"/>
            </p:cNvCxnSpPr>
            <p:nvPr/>
          </p:nvCxnSpPr>
          <p:spPr>
            <a:xfrm flipH="1">
              <a:off x="4654550" y="2146300"/>
              <a:ext cx="5589788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7BB6B265-1C13-F680-4E07-E9FA584019E3}"/>
                </a:ext>
              </a:extLst>
            </p:cNvPr>
            <p:cNvCxnSpPr>
              <a:cxnSpLocks/>
              <a:stCxn id="48" idx="2"/>
              <a:endCxn id="44" idx="0"/>
            </p:cNvCxnSpPr>
            <p:nvPr/>
          </p:nvCxnSpPr>
          <p:spPr>
            <a:xfrm flipH="1">
              <a:off x="6506469" y="2146300"/>
              <a:ext cx="3737869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5E2FFB51-5399-E1D9-82D6-A645F1FDD0A0}"/>
                </a:ext>
              </a:extLst>
            </p:cNvPr>
            <p:cNvCxnSpPr>
              <a:cxnSpLocks/>
              <a:endCxn id="47" idx="0"/>
            </p:cNvCxnSpPr>
            <p:nvPr/>
          </p:nvCxnSpPr>
          <p:spPr>
            <a:xfrm flipH="1">
              <a:off x="8358388" y="2146300"/>
              <a:ext cx="1849638" cy="177800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5DC6C19-F40E-8F41-D626-975BDA1DEC9C}"/>
                </a:ext>
              </a:extLst>
            </p:cNvPr>
            <p:cNvSpPr/>
            <p:nvPr/>
          </p:nvSpPr>
          <p:spPr>
            <a:xfrm>
              <a:off x="6049269" y="2901950"/>
              <a:ext cx="914400" cy="266700"/>
            </a:xfrm>
            <a:prstGeom prst="ellipse">
              <a:avLst/>
            </a:prstGeom>
            <a:solidFill>
              <a:srgbClr val="9D9F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Data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200817B-B42D-30F3-8CA3-2A0334473954}"/>
                </a:ext>
              </a:extLst>
            </p:cNvPr>
            <p:cNvSpPr/>
            <p:nvPr/>
          </p:nvSpPr>
          <p:spPr>
            <a:xfrm>
              <a:off x="7901188" y="2901950"/>
              <a:ext cx="914400" cy="266700"/>
            </a:xfrm>
            <a:prstGeom prst="ellipse">
              <a:avLst/>
            </a:prstGeom>
            <a:solidFill>
              <a:srgbClr val="9D9F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Data</a:t>
              </a:r>
            </a:p>
          </p:txBody>
        </p:sp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1997B08-91C2-F8E0-892F-5A055D51C96D}"/>
              </a:ext>
            </a:extLst>
          </p:cNvPr>
          <p:cNvCxnSpPr/>
          <p:nvPr/>
        </p:nvCxnSpPr>
        <p:spPr>
          <a:xfrm>
            <a:off x="3352800" y="1651000"/>
            <a:ext cx="0" cy="3771900"/>
          </a:xfrm>
          <a:prstGeom prst="line">
            <a:avLst/>
          </a:prstGeom>
          <a:ln>
            <a:solidFill>
              <a:srgbClr val="9D9F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61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76ED-703A-B749-67E1-239D367E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C74B8783-EE97-E460-6F2A-1A80AAE16042}"/>
              </a:ext>
            </a:extLst>
          </p:cNvPr>
          <p:cNvSpPr txBox="1">
            <a:spLocks/>
          </p:cNvSpPr>
          <p:nvPr/>
        </p:nvSpPr>
        <p:spPr bwMode="auto">
          <a:xfrm>
            <a:off x="4019570" y="402212"/>
            <a:ext cx="4487421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What is Apache Kafka</a:t>
            </a:r>
            <a:endParaRPr lang="it-IT" sz="3700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9A96366-4DD0-C7C1-44B3-B798094A1727}"/>
              </a:ext>
            </a:extLst>
          </p:cNvPr>
          <p:cNvGrpSpPr/>
          <p:nvPr/>
        </p:nvGrpSpPr>
        <p:grpSpPr>
          <a:xfrm>
            <a:off x="2802887" y="1820793"/>
            <a:ext cx="6920786" cy="3530600"/>
            <a:chOff x="2571828" y="2178050"/>
            <a:chExt cx="6920786" cy="35306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B0C6D4-A3B6-DC9A-8FD5-AFDB225338C1}"/>
                </a:ext>
              </a:extLst>
            </p:cNvPr>
            <p:cNvSpPr/>
            <p:nvPr/>
          </p:nvSpPr>
          <p:spPr>
            <a:xfrm>
              <a:off x="2574031" y="2178050"/>
              <a:ext cx="1521212" cy="66852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Source System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16A6A3-22A0-9364-0CE4-037B6CD0EDEC}"/>
                </a:ext>
              </a:extLst>
            </p:cNvPr>
            <p:cNvSpPr/>
            <p:nvPr/>
          </p:nvSpPr>
          <p:spPr>
            <a:xfrm>
              <a:off x="2571828" y="5040130"/>
              <a:ext cx="1521212" cy="66852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Target System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9D03EC9-7566-AEFD-8AFB-E4F95334103B}"/>
                </a:ext>
              </a:extLst>
            </p:cNvPr>
            <p:cNvSpPr/>
            <p:nvPr/>
          </p:nvSpPr>
          <p:spPr>
            <a:xfrm>
              <a:off x="4362932" y="2178050"/>
              <a:ext cx="1521212" cy="66852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Source System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A4C04CA-A7A4-67B5-87D8-50BA7E9B6477}"/>
                </a:ext>
              </a:extLst>
            </p:cNvPr>
            <p:cNvSpPr/>
            <p:nvPr/>
          </p:nvSpPr>
          <p:spPr>
            <a:xfrm>
              <a:off x="4360728" y="5040130"/>
              <a:ext cx="1521212" cy="66852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Target System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997F69B-EBE7-6174-070F-0B802850F215}"/>
                </a:ext>
              </a:extLst>
            </p:cNvPr>
            <p:cNvSpPr/>
            <p:nvPr/>
          </p:nvSpPr>
          <p:spPr>
            <a:xfrm>
              <a:off x="6151832" y="2178050"/>
              <a:ext cx="1521212" cy="66852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Source System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8ABFEE-BFCD-B458-7348-CE08BF28BF44}"/>
                </a:ext>
              </a:extLst>
            </p:cNvPr>
            <p:cNvSpPr/>
            <p:nvPr/>
          </p:nvSpPr>
          <p:spPr>
            <a:xfrm>
              <a:off x="6149629" y="5040130"/>
              <a:ext cx="1521212" cy="66852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Target System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02BBE9A-1F5A-D942-694E-AB3AA5381931}"/>
                </a:ext>
              </a:extLst>
            </p:cNvPr>
            <p:cNvSpPr/>
            <p:nvPr/>
          </p:nvSpPr>
          <p:spPr>
            <a:xfrm>
              <a:off x="7971402" y="2178050"/>
              <a:ext cx="1521212" cy="66852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Source System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ADD942B-5FDC-3635-D2B5-3130BF0E26EA}"/>
                </a:ext>
              </a:extLst>
            </p:cNvPr>
            <p:cNvSpPr/>
            <p:nvPr/>
          </p:nvSpPr>
          <p:spPr>
            <a:xfrm>
              <a:off x="7969199" y="5040130"/>
              <a:ext cx="1521212" cy="668520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Target System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FCCA0EB-2190-DA46-802B-9F92FD2BFBBE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3334637" y="2846570"/>
              <a:ext cx="1250063" cy="58243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BB1B01DD-A5A1-706F-02BD-82FABCDE58DB}"/>
                </a:ext>
              </a:extLst>
            </p:cNvPr>
            <p:cNvSpPr/>
            <p:nvPr/>
          </p:nvSpPr>
          <p:spPr>
            <a:xfrm>
              <a:off x="4093040" y="3429000"/>
              <a:ext cx="3810000" cy="10287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9D9FA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DB2CD2B-07B4-3158-E28B-CE612D7322B2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5123538" y="2846570"/>
              <a:ext cx="219565" cy="58243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EAE6216-12F3-E622-6C43-2B6A8AF596AF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flipH="1">
              <a:off x="6642547" y="2846570"/>
              <a:ext cx="269891" cy="58243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737F5B24-4F15-D8BD-67E0-71F6F1A8FBEE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flipH="1">
              <a:off x="7489866" y="2846570"/>
              <a:ext cx="1242142" cy="58243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FDA582B-0865-4B8D-1B6F-FB07217DB904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 flipH="1">
              <a:off x="3332434" y="4457700"/>
              <a:ext cx="1213676" cy="582430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B12A152-40F8-8833-E9C6-B4538EFB1DFC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 flipH="1">
              <a:off x="5121334" y="4500745"/>
              <a:ext cx="221769" cy="539385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3569AE4-3A3E-4FF9-7E4F-C9DD6FC5F374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6642547" y="4500745"/>
              <a:ext cx="267688" cy="539385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6899D88-B884-CB3E-DDBB-71B7C621C8BD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7489866" y="4479222"/>
              <a:ext cx="1239939" cy="560908"/>
            </a:xfrm>
            <a:prstGeom prst="straightConnector1">
              <a:avLst/>
            </a:prstGeom>
            <a:ln w="9525">
              <a:solidFill>
                <a:srgbClr val="9D9F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Picture 86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FBA3C714-5075-4F07-98BC-C47D40EA6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3158" y="3499286"/>
              <a:ext cx="1909763" cy="8881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929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6F06-8881-54FD-9E35-738403A9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6F14FD73-BDA0-3EEB-A18D-77718D1E8E6C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Where is Kafka used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57283-EB28-D8C2-0BE2-EA22DF5134FC}"/>
              </a:ext>
            </a:extLst>
          </p:cNvPr>
          <p:cNvSpPr txBox="1"/>
          <p:nvPr/>
        </p:nvSpPr>
        <p:spPr>
          <a:xfrm>
            <a:off x="1200290" y="1870839"/>
            <a:ext cx="978837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Used by 2000+ firms, 80% of Fortune 100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SBB:</a:t>
            </a:r>
            <a:r>
              <a:rPr lang="en-US" dirty="0"/>
              <a:t> Yes — we use Kafka too! (Master Data propagation, connected train telemetry and real-time services)</a:t>
            </a: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Netflix: </a:t>
            </a:r>
            <a:r>
              <a:rPr lang="it-IT" dirty="0"/>
              <a:t>Real-time recommendations &amp;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Uber: </a:t>
            </a:r>
            <a:r>
              <a:rPr lang="en-US" dirty="0"/>
              <a:t>Real-time pricing, trip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LinkedIn: </a:t>
            </a:r>
            <a:r>
              <a:rPr lang="en-US" dirty="0"/>
              <a:t>Activity streams, operational metrics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PayPal: </a:t>
            </a:r>
            <a:r>
              <a:rPr lang="en-US" dirty="0"/>
              <a:t>Risk detection, fraud prevention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Banking: </a:t>
            </a:r>
            <a:r>
              <a:rPr lang="en-US" dirty="0"/>
              <a:t>Transaction processing, fraud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E-commerce: </a:t>
            </a:r>
            <a:r>
              <a:rPr lang="it-IT" dirty="0"/>
              <a:t>Inventory management, order processing</a:t>
            </a:r>
          </a:p>
        </p:txBody>
      </p:sp>
    </p:spTree>
    <p:extLst>
      <p:ext uri="{BB962C8B-B14F-4D97-AF65-F5344CB8AC3E}">
        <p14:creationId xmlns:p14="http://schemas.microsoft.com/office/powerpoint/2010/main" val="7982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EBBCA-1AC2-63B4-2F08-4790C2A4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272122E7-36A9-DACB-DD07-D5472583E743}"/>
              </a:ext>
            </a:extLst>
          </p:cNvPr>
          <p:cNvSpPr txBox="1">
            <a:spLocks/>
          </p:cNvSpPr>
          <p:nvPr/>
        </p:nvSpPr>
        <p:spPr bwMode="auto">
          <a:xfrm>
            <a:off x="2804155" y="428624"/>
            <a:ext cx="6583690" cy="644787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Topics: Your Data Channels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A02B7-49B0-B7EC-AECF-AC1C47087653}"/>
              </a:ext>
            </a:extLst>
          </p:cNvPr>
          <p:cNvSpPr txBox="1"/>
          <p:nvPr/>
        </p:nvSpPr>
        <p:spPr>
          <a:xfrm>
            <a:off x="1680429" y="1167451"/>
            <a:ext cx="720599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it-IT" dirty="0"/>
          </a:p>
          <a:p>
            <a:r>
              <a:rPr lang="en-US" b="1" dirty="0"/>
              <a:t>Topic </a:t>
            </a:r>
            <a:r>
              <a:rPr lang="en-US" dirty="0"/>
              <a:t>= A particular stream of data published in your Kafka Cluster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 a table in a database or a folder in a filesystem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Topics are </a:t>
            </a:r>
            <a:r>
              <a:rPr lang="en-US" b="1" dirty="0"/>
              <a:t>multi-subscriber </a:t>
            </a:r>
            <a:r>
              <a:rPr lang="en-US" dirty="0"/>
              <a:t>(many applications can read the same topic)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topic is identified by its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impossible to query topics. Use Kafka Producers to send data and Kafka Consumers to read the data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dirty="0"/>
              <a:t>Examples in our workshop: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train-locations - raw position data from trains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train-speed-averages - processed speed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6AAD4F-1DCD-D668-CFEA-1566108583D2}"/>
              </a:ext>
            </a:extLst>
          </p:cNvPr>
          <p:cNvSpPr txBox="1"/>
          <p:nvPr/>
        </p:nvSpPr>
        <p:spPr>
          <a:xfrm>
            <a:off x="9702875" y="1682583"/>
            <a:ext cx="14105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Kafka Broker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F5C99C-69F3-B612-BAEC-CCA19A61FD73}"/>
              </a:ext>
            </a:extLst>
          </p:cNvPr>
          <p:cNvSpPr/>
          <p:nvPr/>
        </p:nvSpPr>
        <p:spPr>
          <a:xfrm>
            <a:off x="9576821" y="2314265"/>
            <a:ext cx="1662678" cy="596900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logs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F7A191-4B9E-A84B-EAF5-BA58F18A2872}"/>
              </a:ext>
            </a:extLst>
          </p:cNvPr>
          <p:cNvSpPr/>
          <p:nvPr/>
        </p:nvSpPr>
        <p:spPr>
          <a:xfrm>
            <a:off x="9576821" y="3435865"/>
            <a:ext cx="1662679" cy="596900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train-locations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D7D371-CA72-92EC-BB92-2D159E9E73C7}"/>
              </a:ext>
            </a:extLst>
          </p:cNvPr>
          <p:cNvSpPr/>
          <p:nvPr/>
        </p:nvSpPr>
        <p:spPr>
          <a:xfrm>
            <a:off x="9576821" y="4557465"/>
            <a:ext cx="1662679" cy="596900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train-speed</a:t>
            </a:r>
          </a:p>
          <a:p>
            <a:pPr algn="ctr"/>
            <a:r>
              <a:rPr lang="it-IT" dirty="0"/>
              <a:t>average</a:t>
            </a:r>
          </a:p>
        </p:txBody>
      </p:sp>
    </p:spTree>
    <p:extLst>
      <p:ext uri="{BB962C8B-B14F-4D97-AF65-F5344CB8AC3E}">
        <p14:creationId xmlns:p14="http://schemas.microsoft.com/office/powerpoint/2010/main" val="170831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B996-64C4-B528-23DD-46807E88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E84394A2-4979-A38B-5BB8-8077D986831B}"/>
              </a:ext>
            </a:extLst>
          </p:cNvPr>
          <p:cNvSpPr txBox="1">
            <a:spLocks/>
          </p:cNvSpPr>
          <p:nvPr/>
        </p:nvSpPr>
        <p:spPr bwMode="auto">
          <a:xfrm>
            <a:off x="2044376" y="413643"/>
            <a:ext cx="7781063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Partitions and offsets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D133D3-10C4-A751-9690-AA4EB7449129}"/>
              </a:ext>
            </a:extLst>
          </p:cNvPr>
          <p:cNvSpPr txBox="1"/>
          <p:nvPr/>
        </p:nvSpPr>
        <p:spPr>
          <a:xfrm>
            <a:off x="1176415" y="1859339"/>
            <a:ext cx="632928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topic is divided into </a:t>
            </a:r>
            <a:r>
              <a:rPr lang="en-US" b="1" dirty="0"/>
              <a:t>partitions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Partitions allow parallel processing</a:t>
            </a:r>
            <a:endParaRPr lang="en-US" b="1" dirty="0"/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Messages in a partition can be </a:t>
            </a:r>
            <a:r>
              <a:rPr lang="en-US" b="1" dirty="0"/>
              <a:t>ordered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message has an </a:t>
            </a:r>
            <a:r>
              <a:rPr lang="en-US" b="1" dirty="0"/>
              <a:t>offset </a:t>
            </a:r>
            <a:r>
              <a:rPr lang="en-US" dirty="0"/>
              <a:t>(sequential 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Kafka topics are </a:t>
            </a:r>
            <a:r>
              <a:rPr lang="en-US" b="1" dirty="0"/>
              <a:t>immutable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Our train-locations topic has </a:t>
            </a:r>
            <a:r>
              <a:rPr lang="it-IT" b="1" dirty="0"/>
              <a:t>3 partitions</a:t>
            </a:r>
            <a:endParaRPr lang="it-IT"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AAEC827-F6A4-397C-0842-B09DC2AE9B57}"/>
              </a:ext>
            </a:extLst>
          </p:cNvPr>
          <p:cNvSpPr txBox="1"/>
          <p:nvPr/>
        </p:nvSpPr>
        <p:spPr>
          <a:xfrm>
            <a:off x="2821064" y="5402188"/>
            <a:ext cx="6227686" cy="8249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it-IT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Topic: </a:t>
            </a:r>
            <a:r>
              <a:rPr lang="it-IT" b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train</a:t>
            </a:r>
            <a:r>
              <a:rPr lang="it-IT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-locations</a:t>
            </a:r>
          </a:p>
          <a:p>
            <a:pPr algn="ctr">
              <a:lnSpc>
                <a:spcPts val="1425"/>
              </a:lnSpc>
              <a:buNone/>
            </a:pPr>
            <a:r>
              <a:rPr lang="it-IT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├── Partition 0: [msg0, msg3, msg6, ...]</a:t>
            </a:r>
          </a:p>
          <a:p>
            <a:pPr algn="ctr">
              <a:lnSpc>
                <a:spcPts val="1425"/>
              </a:lnSpc>
              <a:buNone/>
            </a:pPr>
            <a:r>
              <a:rPr lang="it-IT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├── Partition 1: [msg1, msg4, msg7, ...]</a:t>
            </a:r>
          </a:p>
          <a:p>
            <a:pPr algn="ctr">
              <a:lnSpc>
                <a:spcPts val="1425"/>
              </a:lnSpc>
              <a:buNone/>
            </a:pPr>
            <a:r>
              <a:rPr lang="it-IT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└── Partition 2: [msg2, msg5, msg8, ...]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3BBD6-F658-3F62-747F-18138018872C}"/>
              </a:ext>
            </a:extLst>
          </p:cNvPr>
          <p:cNvSpPr txBox="1"/>
          <p:nvPr/>
        </p:nvSpPr>
        <p:spPr>
          <a:xfrm>
            <a:off x="6294515" y="3244333"/>
            <a:ext cx="13000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Kafka Topic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4BAFB7E5-2FCE-6AD9-EAB3-5D1BBFC5DCB4}"/>
              </a:ext>
            </a:extLst>
          </p:cNvPr>
          <p:cNvSpPr/>
          <p:nvPr/>
        </p:nvSpPr>
        <p:spPr>
          <a:xfrm>
            <a:off x="7594600" y="2000249"/>
            <a:ext cx="177800" cy="2857500"/>
          </a:xfrm>
          <a:prstGeom prst="leftBracket">
            <a:avLst/>
          </a:prstGeom>
          <a:ln>
            <a:solidFill>
              <a:srgbClr val="9D9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7AFAC-AC3E-94B5-BA82-3A518F365018}"/>
              </a:ext>
            </a:extLst>
          </p:cNvPr>
          <p:cNvSpPr txBox="1"/>
          <p:nvPr/>
        </p:nvSpPr>
        <p:spPr>
          <a:xfrm>
            <a:off x="7772400" y="2190233"/>
            <a:ext cx="13000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Partition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34204F-15B5-F083-886A-28B26634EF8A}"/>
              </a:ext>
            </a:extLst>
          </p:cNvPr>
          <p:cNvSpPr txBox="1"/>
          <p:nvPr/>
        </p:nvSpPr>
        <p:spPr>
          <a:xfrm>
            <a:off x="7748664" y="3244333"/>
            <a:ext cx="13000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Partition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8DDA2-1797-58A2-D8CE-D2887A2A2349}"/>
              </a:ext>
            </a:extLst>
          </p:cNvPr>
          <p:cNvSpPr txBox="1"/>
          <p:nvPr/>
        </p:nvSpPr>
        <p:spPr>
          <a:xfrm>
            <a:off x="7748665" y="4298436"/>
            <a:ext cx="13000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Partition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4AB02F-8078-3B98-1C34-0EC7783BEC91}"/>
              </a:ext>
            </a:extLst>
          </p:cNvPr>
          <p:cNvSpPr/>
          <p:nvPr/>
        </p:nvSpPr>
        <p:spPr>
          <a:xfrm>
            <a:off x="9048749" y="21902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91DF51-0BCD-01D5-1522-E80A24CC3826}"/>
              </a:ext>
            </a:extLst>
          </p:cNvPr>
          <p:cNvSpPr/>
          <p:nvPr/>
        </p:nvSpPr>
        <p:spPr>
          <a:xfrm>
            <a:off x="9353549" y="21902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52F99F-B0C4-AEEF-8469-5C00BBAD6A28}"/>
              </a:ext>
            </a:extLst>
          </p:cNvPr>
          <p:cNvSpPr/>
          <p:nvPr/>
        </p:nvSpPr>
        <p:spPr>
          <a:xfrm>
            <a:off x="9652000" y="21902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4DA364-03FD-1637-0599-145537645314}"/>
              </a:ext>
            </a:extLst>
          </p:cNvPr>
          <p:cNvSpPr/>
          <p:nvPr/>
        </p:nvSpPr>
        <p:spPr>
          <a:xfrm>
            <a:off x="9963149" y="21902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73C614-7752-D678-0F3F-D7D151FF29F3}"/>
              </a:ext>
            </a:extLst>
          </p:cNvPr>
          <p:cNvSpPr/>
          <p:nvPr/>
        </p:nvSpPr>
        <p:spPr>
          <a:xfrm>
            <a:off x="10267949" y="21902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E460F9-C237-107B-11F2-F39935185290}"/>
              </a:ext>
            </a:extLst>
          </p:cNvPr>
          <p:cNvSpPr/>
          <p:nvPr/>
        </p:nvSpPr>
        <p:spPr>
          <a:xfrm>
            <a:off x="10590136" y="32443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4ADD9E-1775-1D04-312C-62C924CD9C97}"/>
              </a:ext>
            </a:extLst>
          </p:cNvPr>
          <p:cNvSpPr/>
          <p:nvPr/>
        </p:nvSpPr>
        <p:spPr>
          <a:xfrm>
            <a:off x="10572749" y="2190232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03DC5F-25F4-17A5-0EA7-0BB5C17BF0A4}"/>
              </a:ext>
            </a:extLst>
          </p:cNvPr>
          <p:cNvSpPr/>
          <p:nvPr/>
        </p:nvSpPr>
        <p:spPr>
          <a:xfrm>
            <a:off x="10864851" y="2190231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520410-A123-AC2A-CDFD-D5EAC5FF96C5}"/>
              </a:ext>
            </a:extLst>
          </p:cNvPr>
          <p:cNvSpPr/>
          <p:nvPr/>
        </p:nvSpPr>
        <p:spPr>
          <a:xfrm>
            <a:off x="10566400" y="4298430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C1560D-BC5F-0B26-FD89-1536045607AE}"/>
              </a:ext>
            </a:extLst>
          </p:cNvPr>
          <p:cNvSpPr/>
          <p:nvPr/>
        </p:nvSpPr>
        <p:spPr>
          <a:xfrm>
            <a:off x="9072485" y="32443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E776EA-991F-1E80-46A7-7A667F4DED50}"/>
              </a:ext>
            </a:extLst>
          </p:cNvPr>
          <p:cNvSpPr/>
          <p:nvPr/>
        </p:nvSpPr>
        <p:spPr>
          <a:xfrm>
            <a:off x="9377285" y="32443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01EA9F-69FF-778A-64A2-2BFC3EBC570F}"/>
              </a:ext>
            </a:extLst>
          </p:cNvPr>
          <p:cNvSpPr/>
          <p:nvPr/>
        </p:nvSpPr>
        <p:spPr>
          <a:xfrm>
            <a:off x="9675736" y="32443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7DEF02-9297-3038-A907-22CE53779D34}"/>
              </a:ext>
            </a:extLst>
          </p:cNvPr>
          <p:cNvSpPr/>
          <p:nvPr/>
        </p:nvSpPr>
        <p:spPr>
          <a:xfrm>
            <a:off x="9986885" y="32443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0751AE-4758-AF27-2D19-BE2DDD632961}"/>
              </a:ext>
            </a:extLst>
          </p:cNvPr>
          <p:cNvSpPr/>
          <p:nvPr/>
        </p:nvSpPr>
        <p:spPr>
          <a:xfrm>
            <a:off x="10291685" y="3244333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72FDE1-C26B-00C0-42E0-E4E439C4EBCE}"/>
              </a:ext>
            </a:extLst>
          </p:cNvPr>
          <p:cNvSpPr/>
          <p:nvPr/>
        </p:nvSpPr>
        <p:spPr>
          <a:xfrm>
            <a:off x="9072485" y="4298430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863FAE-D895-E525-AA0A-7ABFFC1D691A}"/>
              </a:ext>
            </a:extLst>
          </p:cNvPr>
          <p:cNvSpPr/>
          <p:nvPr/>
        </p:nvSpPr>
        <p:spPr>
          <a:xfrm>
            <a:off x="9377285" y="4298430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1E9367-AF73-72F8-9E68-E68D1A20AC80}"/>
              </a:ext>
            </a:extLst>
          </p:cNvPr>
          <p:cNvSpPr/>
          <p:nvPr/>
        </p:nvSpPr>
        <p:spPr>
          <a:xfrm>
            <a:off x="9675736" y="4298430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2C4AEE-376F-D708-2B4B-A14764338E43}"/>
              </a:ext>
            </a:extLst>
          </p:cNvPr>
          <p:cNvSpPr/>
          <p:nvPr/>
        </p:nvSpPr>
        <p:spPr>
          <a:xfrm>
            <a:off x="9986885" y="4298430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A582F0-8198-C095-3104-99F456D55B5B}"/>
              </a:ext>
            </a:extLst>
          </p:cNvPr>
          <p:cNvSpPr/>
          <p:nvPr/>
        </p:nvSpPr>
        <p:spPr>
          <a:xfrm>
            <a:off x="10291685" y="4298430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5D435A-3B37-DA1F-5B22-28EE55E6E709}"/>
              </a:ext>
            </a:extLst>
          </p:cNvPr>
          <p:cNvSpPr/>
          <p:nvPr/>
        </p:nvSpPr>
        <p:spPr>
          <a:xfrm>
            <a:off x="10864850" y="4298430"/>
            <a:ext cx="298451" cy="369329"/>
          </a:xfrm>
          <a:prstGeom prst="rect">
            <a:avLst/>
          </a:prstGeom>
          <a:solidFill>
            <a:srgbClr val="A70C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6</a:t>
            </a:r>
          </a:p>
        </p:txBody>
      </p:sp>
      <p:sp>
        <p:nvSpPr>
          <p:cNvPr id="31" name="Left Bracket 30">
            <a:extLst>
              <a:ext uri="{FF2B5EF4-FFF2-40B4-BE49-F238E27FC236}">
                <a16:creationId xmlns:a16="http://schemas.microsoft.com/office/drawing/2014/main" id="{C15C9619-EBAF-9B97-7C75-46F2F0F689DA}"/>
              </a:ext>
            </a:extLst>
          </p:cNvPr>
          <p:cNvSpPr/>
          <p:nvPr/>
        </p:nvSpPr>
        <p:spPr>
          <a:xfrm flipH="1">
            <a:off x="11263391" y="2000247"/>
            <a:ext cx="180975" cy="2857500"/>
          </a:xfrm>
          <a:prstGeom prst="leftBracket">
            <a:avLst/>
          </a:prstGeom>
          <a:ln>
            <a:solidFill>
              <a:srgbClr val="9D9F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57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49AD-447E-159B-24C6-60632A468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000A2557-807C-6D76-A648-D1197209F608}"/>
              </a:ext>
            </a:extLst>
          </p:cNvPr>
          <p:cNvSpPr txBox="1">
            <a:spLocks/>
          </p:cNvSpPr>
          <p:nvPr/>
        </p:nvSpPr>
        <p:spPr bwMode="auto">
          <a:xfrm>
            <a:off x="2724442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Producers: Publishing Data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4D5D2-8EA0-C90B-51F8-B592523E43B7}"/>
              </a:ext>
            </a:extLst>
          </p:cNvPr>
          <p:cNvSpPr txBox="1"/>
          <p:nvPr/>
        </p:nvSpPr>
        <p:spPr>
          <a:xfrm>
            <a:off x="830050" y="1195111"/>
            <a:ext cx="978837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Applications that </a:t>
            </a:r>
            <a:r>
              <a:rPr lang="en-US" b="1" dirty="0"/>
              <a:t>publish </a:t>
            </a:r>
            <a:r>
              <a:rPr lang="en-US" dirty="0"/>
              <a:t>(write) records to topics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Specify which partition to send to (and which Kafka broker has 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use </a:t>
            </a:r>
            <a:r>
              <a:rPr lang="en-US" b="1" dirty="0"/>
              <a:t>keys</a:t>
            </a:r>
            <a:r>
              <a:rPr lang="en-US" dirty="0"/>
              <a:t> for consistent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our workshop: </a:t>
            </a:r>
            <a:r>
              <a:rPr lang="en-US" b="1" dirty="0" err="1"/>
              <a:t>TrainLocationSimulator</a:t>
            </a:r>
            <a:r>
              <a:rPr lang="en-US" b="1" dirty="0"/>
              <a:t> </a:t>
            </a:r>
            <a:r>
              <a:rPr lang="en-US" dirty="0"/>
              <a:t>(Java)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2EC495-BC40-80A1-6964-895063C6BF71}"/>
              </a:ext>
            </a:extLst>
          </p:cNvPr>
          <p:cNvSpPr txBox="1"/>
          <p:nvPr/>
        </p:nvSpPr>
        <p:spPr>
          <a:xfrm>
            <a:off x="3099488" y="5538936"/>
            <a:ext cx="108447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Example</a:t>
            </a:r>
            <a:r>
              <a:rPr lang="en-US" sz="1400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A6C9C4-69E9-7492-20BF-542E4179CF04}"/>
              </a:ext>
            </a:extLst>
          </p:cNvPr>
          <p:cNvSpPr txBox="1"/>
          <p:nvPr/>
        </p:nvSpPr>
        <p:spPr>
          <a:xfrm>
            <a:off x="3099488" y="6289306"/>
            <a:ext cx="97883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This ensures all messages from the same train stay in order!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67CC11-7272-02D5-27FB-50EACEE6B725}"/>
              </a:ext>
            </a:extLst>
          </p:cNvPr>
          <p:cNvSpPr txBox="1"/>
          <p:nvPr/>
        </p:nvSpPr>
        <p:spPr>
          <a:xfrm>
            <a:off x="3099488" y="5922521"/>
            <a:ext cx="6625537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4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Train T-123 → </a:t>
            </a:r>
            <a:r>
              <a:rPr lang="it-IT" sz="1400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partition</a:t>
            </a:r>
            <a:r>
              <a:rPr lang="it-IT" sz="14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400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based</a:t>
            </a:r>
            <a:r>
              <a:rPr lang="it-IT" sz="14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 on train ID → </a:t>
            </a:r>
            <a:r>
              <a:rPr lang="it-IT" sz="1400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it-IT" sz="14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400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same</a:t>
            </a:r>
            <a:r>
              <a:rPr lang="it-IT" sz="14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400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partition</a:t>
            </a:r>
            <a:endParaRPr lang="it-IT" sz="1400" b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77CC292-FCC0-AA38-99BE-21A82A155898}"/>
              </a:ext>
            </a:extLst>
          </p:cNvPr>
          <p:cNvGrpSpPr/>
          <p:nvPr/>
        </p:nvGrpSpPr>
        <p:grpSpPr>
          <a:xfrm>
            <a:off x="2335898" y="2873301"/>
            <a:ext cx="7728411" cy="2589827"/>
            <a:chOff x="2335898" y="2873301"/>
            <a:chExt cx="7728411" cy="258982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B70F636-4A61-BB8E-B53A-23B08A31B94F}"/>
                </a:ext>
              </a:extLst>
            </p:cNvPr>
            <p:cNvSpPr txBox="1"/>
            <p:nvPr/>
          </p:nvSpPr>
          <p:spPr>
            <a:xfrm>
              <a:off x="5932779" y="3943698"/>
              <a:ext cx="1167430" cy="33473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dirty="0"/>
                <a:t>Kafka Topic</a:t>
              </a:r>
            </a:p>
          </p:txBody>
        </p:sp>
        <p:sp>
          <p:nvSpPr>
            <p:cNvPr id="7" name="Left Bracket 6">
              <a:extLst>
                <a:ext uri="{FF2B5EF4-FFF2-40B4-BE49-F238E27FC236}">
                  <a16:creationId xmlns:a16="http://schemas.microsoft.com/office/drawing/2014/main" id="{F7F5CAED-CDC6-8078-BCB6-DB25327899CB}"/>
                </a:ext>
              </a:extLst>
            </p:cNvPr>
            <p:cNvSpPr/>
            <p:nvPr/>
          </p:nvSpPr>
          <p:spPr>
            <a:xfrm>
              <a:off x="6700151" y="2873303"/>
              <a:ext cx="159657" cy="2589825"/>
            </a:xfrm>
            <a:prstGeom prst="leftBracket">
              <a:avLst/>
            </a:prstGeom>
            <a:ln>
              <a:solidFill>
                <a:srgbClr val="9D9F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DF74963-1A62-6287-CF52-B60928F74870}"/>
                </a:ext>
              </a:extLst>
            </p:cNvPr>
            <p:cNvSpPr txBox="1"/>
            <p:nvPr/>
          </p:nvSpPr>
          <p:spPr>
            <a:xfrm>
              <a:off x="6793133" y="3045490"/>
              <a:ext cx="1167426" cy="33473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dirty="0"/>
                <a:t>Partition 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CA5125B-D566-6FEF-5F20-6F85B1A56F12}"/>
                </a:ext>
              </a:extLst>
            </p:cNvPr>
            <p:cNvSpPr txBox="1"/>
            <p:nvPr/>
          </p:nvSpPr>
          <p:spPr>
            <a:xfrm>
              <a:off x="6771819" y="4000848"/>
              <a:ext cx="1167426" cy="33473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dirty="0"/>
                <a:t>Partition 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C286C0-E57E-B3DB-0A51-15745EFDC1B2}"/>
                </a:ext>
              </a:extLst>
            </p:cNvPr>
            <p:cNvSpPr txBox="1"/>
            <p:nvPr/>
          </p:nvSpPr>
          <p:spPr>
            <a:xfrm>
              <a:off x="6771820" y="4956208"/>
              <a:ext cx="1167426" cy="33473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dirty="0"/>
                <a:t>Partition 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879598-1079-9BF1-58D8-939D50839CFD}"/>
                </a:ext>
              </a:extLst>
            </p:cNvPr>
            <p:cNvSpPr/>
            <p:nvPr/>
          </p:nvSpPr>
          <p:spPr>
            <a:xfrm>
              <a:off x="7939245" y="3045490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CF4D38-A76B-B5BC-5B85-2ABE4D20B318}"/>
                </a:ext>
              </a:extLst>
            </p:cNvPr>
            <p:cNvSpPr/>
            <p:nvPr/>
          </p:nvSpPr>
          <p:spPr>
            <a:xfrm>
              <a:off x="8212943" y="3045490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7F1F95-B95D-D23E-C574-057606245EE3}"/>
                </a:ext>
              </a:extLst>
            </p:cNvPr>
            <p:cNvSpPr/>
            <p:nvPr/>
          </p:nvSpPr>
          <p:spPr>
            <a:xfrm>
              <a:off x="8480941" y="3045490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5F16938-E38B-D33F-46CA-1BC4CA10D7D8}"/>
                </a:ext>
              </a:extLst>
            </p:cNvPr>
            <p:cNvSpPr/>
            <p:nvPr/>
          </p:nvSpPr>
          <p:spPr>
            <a:xfrm>
              <a:off x="8751287" y="3045490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74D0F1-B7F3-838A-DA58-18BED77B66BD}"/>
                </a:ext>
              </a:extLst>
            </p:cNvPr>
            <p:cNvSpPr/>
            <p:nvPr/>
          </p:nvSpPr>
          <p:spPr>
            <a:xfrm>
              <a:off x="9024986" y="3045490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2E98AE2-6ED8-75A5-613B-C78A06F58B26}"/>
                </a:ext>
              </a:extLst>
            </p:cNvPr>
            <p:cNvSpPr/>
            <p:nvPr/>
          </p:nvSpPr>
          <p:spPr>
            <a:xfrm>
              <a:off x="9323350" y="4000848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44CE1F-4EE3-C591-C983-659A24D58722}"/>
                </a:ext>
              </a:extLst>
            </p:cNvPr>
            <p:cNvSpPr/>
            <p:nvPr/>
          </p:nvSpPr>
          <p:spPr>
            <a:xfrm>
              <a:off x="9298684" y="3045489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CD345D6-5300-2A37-4BDA-2FD857E40BA2}"/>
                </a:ext>
              </a:extLst>
            </p:cNvPr>
            <p:cNvSpPr/>
            <p:nvPr/>
          </p:nvSpPr>
          <p:spPr>
            <a:xfrm>
              <a:off x="9560981" y="3045489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6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ABC6406-F587-DCC9-66AD-D958574253CA}"/>
                </a:ext>
              </a:extLst>
            </p:cNvPr>
            <p:cNvSpPr/>
            <p:nvPr/>
          </p:nvSpPr>
          <p:spPr>
            <a:xfrm>
              <a:off x="9302036" y="49562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5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97FF626-7F1A-20C9-D873-9EF3412DCF24}"/>
                </a:ext>
              </a:extLst>
            </p:cNvPr>
            <p:cNvSpPr/>
            <p:nvPr/>
          </p:nvSpPr>
          <p:spPr>
            <a:xfrm>
              <a:off x="7960559" y="4000848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07861D-65C1-D195-EC75-D5E62146390A}"/>
                </a:ext>
              </a:extLst>
            </p:cNvPr>
            <p:cNvSpPr/>
            <p:nvPr/>
          </p:nvSpPr>
          <p:spPr>
            <a:xfrm>
              <a:off x="8234257" y="4000848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ABC846E-4BB5-5AB4-87C4-2377180741F1}"/>
                </a:ext>
              </a:extLst>
            </p:cNvPr>
            <p:cNvSpPr/>
            <p:nvPr/>
          </p:nvSpPr>
          <p:spPr>
            <a:xfrm>
              <a:off x="8502255" y="4000848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C95995-A4CE-B29B-F0F1-1D7AC487B93E}"/>
                </a:ext>
              </a:extLst>
            </p:cNvPr>
            <p:cNvSpPr/>
            <p:nvPr/>
          </p:nvSpPr>
          <p:spPr>
            <a:xfrm>
              <a:off x="8781654" y="4000848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796E6D2-22B3-493F-BC66-4050D581C541}"/>
                </a:ext>
              </a:extLst>
            </p:cNvPr>
            <p:cNvSpPr/>
            <p:nvPr/>
          </p:nvSpPr>
          <p:spPr>
            <a:xfrm>
              <a:off x="9055353" y="4000848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4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7603F52-CABA-9CB8-3781-38094F4515DC}"/>
                </a:ext>
              </a:extLst>
            </p:cNvPr>
            <p:cNvSpPr/>
            <p:nvPr/>
          </p:nvSpPr>
          <p:spPr>
            <a:xfrm>
              <a:off x="7960559" y="49562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F3BC7B8-5BEF-F4DB-C967-9D8D222AD788}"/>
                </a:ext>
              </a:extLst>
            </p:cNvPr>
            <p:cNvSpPr/>
            <p:nvPr/>
          </p:nvSpPr>
          <p:spPr>
            <a:xfrm>
              <a:off x="8234257" y="49562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313594C-3F22-9124-4508-D0A928224EC4}"/>
                </a:ext>
              </a:extLst>
            </p:cNvPr>
            <p:cNvSpPr/>
            <p:nvPr/>
          </p:nvSpPr>
          <p:spPr>
            <a:xfrm>
              <a:off x="8502255" y="49562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947B88B-0228-CADC-8CB9-6222E6822ECB}"/>
                </a:ext>
              </a:extLst>
            </p:cNvPr>
            <p:cNvSpPr/>
            <p:nvPr/>
          </p:nvSpPr>
          <p:spPr>
            <a:xfrm>
              <a:off x="8781654" y="49562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441BAB3-DA53-003C-6C21-B5E2946598A0}"/>
                </a:ext>
              </a:extLst>
            </p:cNvPr>
            <p:cNvSpPr/>
            <p:nvPr/>
          </p:nvSpPr>
          <p:spPr>
            <a:xfrm>
              <a:off x="9055353" y="49562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3F9237C-31B7-1B82-FA69-B10163A394B2}"/>
                </a:ext>
              </a:extLst>
            </p:cNvPr>
            <p:cNvSpPr/>
            <p:nvPr/>
          </p:nvSpPr>
          <p:spPr>
            <a:xfrm>
              <a:off x="9570033" y="49562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6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3C732880-19E2-96FE-784D-CF289BDB0401}"/>
                </a:ext>
              </a:extLst>
            </p:cNvPr>
            <p:cNvSpPr/>
            <p:nvPr/>
          </p:nvSpPr>
          <p:spPr>
            <a:xfrm>
              <a:off x="2335898" y="3973971"/>
              <a:ext cx="1662678" cy="596900"/>
            </a:xfrm>
            <a:prstGeom prst="roundRect">
              <a:avLst/>
            </a:prstGeom>
            <a:solidFill>
              <a:srgbClr val="A70C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Kafka Producer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D0FAC61-621D-C2B1-49DA-EBFDDF669149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 flipV="1">
              <a:off x="3998576" y="3273213"/>
              <a:ext cx="2620368" cy="999208"/>
            </a:xfrm>
            <a:prstGeom prst="straightConnector1">
              <a:avLst/>
            </a:prstGeom>
            <a:ln>
              <a:solidFill>
                <a:srgbClr val="9D9F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19D4F58-9ED3-2594-0800-A8F71D176100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3998576" y="4272421"/>
              <a:ext cx="2623498" cy="25569"/>
            </a:xfrm>
            <a:prstGeom prst="straightConnector1">
              <a:avLst/>
            </a:prstGeom>
            <a:ln>
              <a:solidFill>
                <a:srgbClr val="9D9F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23A41FA-B302-FD38-FCFD-70F2B7B57A03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3998576" y="4272421"/>
              <a:ext cx="2634899" cy="878270"/>
            </a:xfrm>
            <a:prstGeom prst="straightConnector1">
              <a:avLst/>
            </a:prstGeom>
            <a:ln>
              <a:solidFill>
                <a:srgbClr val="9D9F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Left Bracket 45">
              <a:extLst>
                <a:ext uri="{FF2B5EF4-FFF2-40B4-BE49-F238E27FC236}">
                  <a16:creationId xmlns:a16="http://schemas.microsoft.com/office/drawing/2014/main" id="{52BABF28-CF3C-BA3D-5272-53EBDFA19B5C}"/>
                </a:ext>
              </a:extLst>
            </p:cNvPr>
            <p:cNvSpPr/>
            <p:nvPr/>
          </p:nvSpPr>
          <p:spPr>
            <a:xfrm flipH="1">
              <a:off x="9898774" y="2873301"/>
              <a:ext cx="165535" cy="2589825"/>
            </a:xfrm>
            <a:prstGeom prst="leftBracket">
              <a:avLst/>
            </a:prstGeom>
            <a:ln>
              <a:solidFill>
                <a:srgbClr val="9D9F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07825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5DE01-2D86-D03C-DE88-F66D6DB6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F5673BE8-29CA-ADF5-CF42-139AFC6E876B}"/>
              </a:ext>
            </a:extLst>
          </p:cNvPr>
          <p:cNvSpPr txBox="1">
            <a:spLocks/>
          </p:cNvSpPr>
          <p:nvPr/>
        </p:nvSpPr>
        <p:spPr bwMode="auto">
          <a:xfrm>
            <a:off x="2804155" y="388018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Consumers: Reading Data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8BA34-A065-4C91-0A8A-6CCE516B48F5}"/>
              </a:ext>
            </a:extLst>
          </p:cNvPr>
          <p:cNvSpPr txBox="1"/>
          <p:nvPr/>
        </p:nvSpPr>
        <p:spPr>
          <a:xfrm>
            <a:off x="726430" y="1329092"/>
            <a:ext cx="917004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Applications that </a:t>
            </a:r>
            <a:r>
              <a:rPr lang="en-US" b="1" dirty="0"/>
              <a:t>subscribe </a:t>
            </a:r>
            <a:r>
              <a:rPr lang="en-US" dirty="0"/>
              <a:t>to topics and process records (pull model)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 an </a:t>
            </a:r>
            <a:r>
              <a:rPr lang="en-US" b="1" dirty="0"/>
              <a:t>offset </a:t>
            </a:r>
            <a:r>
              <a:rPr lang="en-US" dirty="0"/>
              <a:t>to track what they've read -&gt; Consumers know which broker to read from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rewind and replay messages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BE168A-7DC7-6EC2-BA1B-7A7AA09D9EB5}"/>
              </a:ext>
            </a:extLst>
          </p:cNvPr>
          <p:cNvSpPr txBox="1"/>
          <p:nvPr/>
        </p:nvSpPr>
        <p:spPr>
          <a:xfrm>
            <a:off x="726429" y="3251872"/>
            <a:ext cx="430939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In our workshop:</a:t>
            </a:r>
            <a:endParaRPr lang="it-IT" dirty="0"/>
          </a:p>
          <a:p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SpeedAnalysisStream </a:t>
            </a:r>
            <a:r>
              <a:rPr lang="it-IT" dirty="0"/>
              <a:t>(Kafka Streams)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DashboardWebApp </a:t>
            </a:r>
            <a:r>
              <a:rPr lang="it-IT" dirty="0"/>
              <a:t>(Java)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MaintenanceAlerter </a:t>
            </a:r>
            <a:r>
              <a:rPr lang="it-IT" dirty="0"/>
              <a:t>(Python)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BFEEC17-8A2D-A4EE-B1C1-824833560451}"/>
              </a:ext>
            </a:extLst>
          </p:cNvPr>
          <p:cNvGrpSpPr/>
          <p:nvPr/>
        </p:nvGrpSpPr>
        <p:grpSpPr>
          <a:xfrm>
            <a:off x="5325709" y="3072084"/>
            <a:ext cx="4338550" cy="2174945"/>
            <a:chOff x="3094273" y="2873303"/>
            <a:chExt cx="6381593" cy="2624301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BF1C42B-59A6-6363-85FA-2545F37033B4}"/>
                </a:ext>
              </a:extLst>
            </p:cNvPr>
            <p:cNvSpPr txBox="1"/>
            <p:nvPr/>
          </p:nvSpPr>
          <p:spPr>
            <a:xfrm>
              <a:off x="5974512" y="4096203"/>
              <a:ext cx="855419" cy="51991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sz="1100" dirty="0"/>
                <a:t>Kafka Topic</a:t>
              </a:r>
            </a:p>
          </p:txBody>
        </p:sp>
        <p:sp>
          <p:nvSpPr>
            <p:cNvPr id="38" name="Left Bracket 37">
              <a:extLst>
                <a:ext uri="{FF2B5EF4-FFF2-40B4-BE49-F238E27FC236}">
                  <a16:creationId xmlns:a16="http://schemas.microsoft.com/office/drawing/2014/main" id="{DFE77EB7-E346-5C87-F028-E1E5919402AB}"/>
                </a:ext>
              </a:extLst>
            </p:cNvPr>
            <p:cNvSpPr/>
            <p:nvPr/>
          </p:nvSpPr>
          <p:spPr>
            <a:xfrm>
              <a:off x="6700151" y="2873303"/>
              <a:ext cx="159657" cy="2589825"/>
            </a:xfrm>
            <a:prstGeom prst="leftBracket">
              <a:avLst/>
            </a:prstGeom>
            <a:ln>
              <a:solidFill>
                <a:srgbClr val="9D9F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174A36D-EC27-57D6-3FCE-3227A7F06DD3}"/>
                </a:ext>
              </a:extLst>
            </p:cNvPr>
            <p:cNvSpPr txBox="1"/>
            <p:nvPr/>
          </p:nvSpPr>
          <p:spPr>
            <a:xfrm>
              <a:off x="6831115" y="3120099"/>
              <a:ext cx="502435" cy="30637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sz="1000" dirty="0"/>
                <a:t>P0</a:t>
              </a:r>
              <a:endParaRPr lang="it-IT" sz="105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C756106-AA13-8239-9243-097378E68ADD}"/>
                </a:ext>
              </a:extLst>
            </p:cNvPr>
            <p:cNvSpPr txBox="1"/>
            <p:nvPr/>
          </p:nvSpPr>
          <p:spPr>
            <a:xfrm>
              <a:off x="6834869" y="4062549"/>
              <a:ext cx="502436" cy="2970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sz="1000" dirty="0"/>
                <a:t>P1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82628EE-C1F6-BA12-DD26-E6022CE88249}"/>
                </a:ext>
              </a:extLst>
            </p:cNvPr>
            <p:cNvSpPr txBox="1"/>
            <p:nvPr/>
          </p:nvSpPr>
          <p:spPr>
            <a:xfrm>
              <a:off x="6851983" y="5143031"/>
              <a:ext cx="517286" cy="2970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sz="1000" dirty="0"/>
                <a:t>P2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41E2307-218D-4A92-A3BF-AFCBFBB9B967}"/>
                </a:ext>
              </a:extLst>
            </p:cNvPr>
            <p:cNvSpPr/>
            <p:nvPr/>
          </p:nvSpPr>
          <p:spPr>
            <a:xfrm>
              <a:off x="7486248" y="3158506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C230630-5F9E-1663-2964-A58007F88E85}"/>
                </a:ext>
              </a:extLst>
            </p:cNvPr>
            <p:cNvSpPr/>
            <p:nvPr/>
          </p:nvSpPr>
          <p:spPr>
            <a:xfrm>
              <a:off x="7759946" y="3158506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FE7B749-1FE2-8FCD-4930-CA5D82FC4967}"/>
                </a:ext>
              </a:extLst>
            </p:cNvPr>
            <p:cNvSpPr/>
            <p:nvPr/>
          </p:nvSpPr>
          <p:spPr>
            <a:xfrm>
              <a:off x="8027940" y="3158506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A34B96E-49EE-A910-C928-84820405874F}"/>
                </a:ext>
              </a:extLst>
            </p:cNvPr>
            <p:cNvSpPr/>
            <p:nvPr/>
          </p:nvSpPr>
          <p:spPr>
            <a:xfrm>
              <a:off x="8307338" y="3158506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7AAB74E-B49B-B17F-FF71-C219C97A6111}"/>
                </a:ext>
              </a:extLst>
            </p:cNvPr>
            <p:cNvSpPr/>
            <p:nvPr/>
          </p:nvSpPr>
          <p:spPr>
            <a:xfrm>
              <a:off x="8581035" y="3158506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4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2E40097-CCA8-49F3-5D26-AE0CF4AB9F52}"/>
                </a:ext>
              </a:extLst>
            </p:cNvPr>
            <p:cNvSpPr/>
            <p:nvPr/>
          </p:nvSpPr>
          <p:spPr>
            <a:xfrm>
              <a:off x="8837652" y="41809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5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76DF535-B417-9882-303D-8759C44A7C7A}"/>
                </a:ext>
              </a:extLst>
            </p:cNvPr>
            <p:cNvSpPr/>
            <p:nvPr/>
          </p:nvSpPr>
          <p:spPr>
            <a:xfrm>
              <a:off x="8854735" y="3158504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5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D2BFB9A-75AA-5A34-4D39-A47FC67B38D3}"/>
                </a:ext>
              </a:extLst>
            </p:cNvPr>
            <p:cNvSpPr/>
            <p:nvPr/>
          </p:nvSpPr>
          <p:spPr>
            <a:xfrm>
              <a:off x="9117031" y="3158504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6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2698122-2E0C-7927-DF21-9E1EE6C18D29}"/>
                </a:ext>
              </a:extLst>
            </p:cNvPr>
            <p:cNvSpPr/>
            <p:nvPr/>
          </p:nvSpPr>
          <p:spPr>
            <a:xfrm>
              <a:off x="8816337" y="5028992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5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444FE78-2D92-9020-F495-D5405B4F7B39}"/>
                </a:ext>
              </a:extLst>
            </p:cNvPr>
            <p:cNvSpPr/>
            <p:nvPr/>
          </p:nvSpPr>
          <p:spPr>
            <a:xfrm>
              <a:off x="7474864" y="41809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144BD96-DFA5-FBB1-7E6F-D625FF4585D2}"/>
                </a:ext>
              </a:extLst>
            </p:cNvPr>
            <p:cNvSpPr/>
            <p:nvPr/>
          </p:nvSpPr>
          <p:spPr>
            <a:xfrm>
              <a:off x="7748564" y="41809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5934827-38DB-C786-B539-E1815E7570A2}"/>
                </a:ext>
              </a:extLst>
            </p:cNvPr>
            <p:cNvSpPr/>
            <p:nvPr/>
          </p:nvSpPr>
          <p:spPr>
            <a:xfrm>
              <a:off x="8016558" y="41809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59C52E5-E578-2E54-6086-6788FDCFE9D2}"/>
                </a:ext>
              </a:extLst>
            </p:cNvPr>
            <p:cNvSpPr/>
            <p:nvPr/>
          </p:nvSpPr>
          <p:spPr>
            <a:xfrm>
              <a:off x="8295959" y="41809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81E5D6E-7252-3D1C-E0CD-F341976084F5}"/>
                </a:ext>
              </a:extLst>
            </p:cNvPr>
            <p:cNvSpPr/>
            <p:nvPr/>
          </p:nvSpPr>
          <p:spPr>
            <a:xfrm>
              <a:off x="8569656" y="4180903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CE77E9-BB72-E053-D9E5-FA48DB3B4C73}"/>
                </a:ext>
              </a:extLst>
            </p:cNvPr>
            <p:cNvSpPr/>
            <p:nvPr/>
          </p:nvSpPr>
          <p:spPr>
            <a:xfrm>
              <a:off x="7474864" y="5028992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AAB79E8-ADC9-FBF3-08B7-D8145DF28D9F}"/>
                </a:ext>
              </a:extLst>
            </p:cNvPr>
            <p:cNvSpPr/>
            <p:nvPr/>
          </p:nvSpPr>
          <p:spPr>
            <a:xfrm>
              <a:off x="7748564" y="5028992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E39AF0B-78B5-25AA-0F8D-FFB01F9EB873}"/>
                </a:ext>
              </a:extLst>
            </p:cNvPr>
            <p:cNvSpPr/>
            <p:nvPr/>
          </p:nvSpPr>
          <p:spPr>
            <a:xfrm>
              <a:off x="8016558" y="5028992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912EAC6-829F-DE1F-C783-443417AFE2D9}"/>
                </a:ext>
              </a:extLst>
            </p:cNvPr>
            <p:cNvSpPr/>
            <p:nvPr/>
          </p:nvSpPr>
          <p:spPr>
            <a:xfrm>
              <a:off x="8295959" y="5028992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3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D6C0E85-EF34-8396-FAE1-543662B3A90A}"/>
                </a:ext>
              </a:extLst>
            </p:cNvPr>
            <p:cNvSpPr/>
            <p:nvPr/>
          </p:nvSpPr>
          <p:spPr>
            <a:xfrm>
              <a:off x="8569656" y="5028992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4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4D9EF20-A370-A544-1782-EE1F13281D15}"/>
                </a:ext>
              </a:extLst>
            </p:cNvPr>
            <p:cNvSpPr/>
            <p:nvPr/>
          </p:nvSpPr>
          <p:spPr>
            <a:xfrm>
              <a:off x="9084336" y="5028992"/>
              <a:ext cx="267997" cy="334732"/>
            </a:xfrm>
            <a:prstGeom prst="rect">
              <a:avLst/>
            </a:prstGeom>
            <a:solidFill>
              <a:srgbClr val="A70C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6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7BEC480-3400-9EBA-5ADB-9AAD91A2DF0E}"/>
                </a:ext>
              </a:extLst>
            </p:cNvPr>
            <p:cNvSpPr/>
            <p:nvPr/>
          </p:nvSpPr>
          <p:spPr>
            <a:xfrm>
              <a:off x="3094273" y="4035326"/>
              <a:ext cx="1662678" cy="596901"/>
            </a:xfrm>
            <a:prstGeom prst="roundRect">
              <a:avLst/>
            </a:prstGeom>
            <a:solidFill>
              <a:srgbClr val="A70C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/>
                <a:t>Kafka Producer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A8D0F9B-43F8-918C-4C95-6317FD2514B0}"/>
                </a:ext>
              </a:extLst>
            </p:cNvPr>
            <p:cNvCxnSpPr>
              <a:cxnSpLocks/>
              <a:stCxn id="62" idx="3"/>
            </p:cNvCxnSpPr>
            <p:nvPr/>
          </p:nvCxnSpPr>
          <p:spPr>
            <a:xfrm flipV="1">
              <a:off x="4756951" y="3334568"/>
              <a:ext cx="2620368" cy="999208"/>
            </a:xfrm>
            <a:prstGeom prst="straightConnector1">
              <a:avLst/>
            </a:prstGeom>
            <a:ln>
              <a:solidFill>
                <a:srgbClr val="9D9F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1F8BCA2-6997-468A-B7DB-F0E7ED7115AE}"/>
                </a:ext>
              </a:extLst>
            </p:cNvPr>
            <p:cNvCxnSpPr>
              <a:cxnSpLocks/>
              <a:stCxn id="62" idx="3"/>
            </p:cNvCxnSpPr>
            <p:nvPr/>
          </p:nvCxnSpPr>
          <p:spPr>
            <a:xfrm>
              <a:off x="4756951" y="4333776"/>
              <a:ext cx="2623498" cy="25569"/>
            </a:xfrm>
            <a:prstGeom prst="straightConnector1">
              <a:avLst/>
            </a:prstGeom>
            <a:ln>
              <a:solidFill>
                <a:srgbClr val="9D9F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63477876-B6BC-BE4C-AA37-FD573C298A45}"/>
                </a:ext>
              </a:extLst>
            </p:cNvPr>
            <p:cNvCxnSpPr>
              <a:cxnSpLocks/>
              <a:stCxn id="62" idx="3"/>
            </p:cNvCxnSpPr>
            <p:nvPr/>
          </p:nvCxnSpPr>
          <p:spPr>
            <a:xfrm>
              <a:off x="4756951" y="4333776"/>
              <a:ext cx="2634899" cy="878270"/>
            </a:xfrm>
            <a:prstGeom prst="straightConnector1">
              <a:avLst/>
            </a:prstGeom>
            <a:ln>
              <a:solidFill>
                <a:srgbClr val="9D9F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Left Bracket 65">
              <a:extLst>
                <a:ext uri="{FF2B5EF4-FFF2-40B4-BE49-F238E27FC236}">
                  <a16:creationId xmlns:a16="http://schemas.microsoft.com/office/drawing/2014/main" id="{40DA245A-C191-8C12-AC85-B7BD93528E3A}"/>
                </a:ext>
              </a:extLst>
            </p:cNvPr>
            <p:cNvSpPr/>
            <p:nvPr/>
          </p:nvSpPr>
          <p:spPr>
            <a:xfrm flipH="1">
              <a:off x="9310332" y="2907779"/>
              <a:ext cx="165534" cy="2589825"/>
            </a:xfrm>
            <a:prstGeom prst="leftBracket">
              <a:avLst/>
            </a:prstGeom>
            <a:ln>
              <a:solidFill>
                <a:srgbClr val="9D9F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0685F27-5476-E515-102E-F8AEE78B49BD}"/>
              </a:ext>
            </a:extLst>
          </p:cNvPr>
          <p:cNvSpPr/>
          <p:nvPr/>
        </p:nvSpPr>
        <p:spPr>
          <a:xfrm>
            <a:off x="10524989" y="3199811"/>
            <a:ext cx="1130378" cy="494694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Kafka Consumer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F5DE778-55FA-3546-28E8-1C1963802C27}"/>
              </a:ext>
            </a:extLst>
          </p:cNvPr>
          <p:cNvSpPr/>
          <p:nvPr/>
        </p:nvSpPr>
        <p:spPr>
          <a:xfrm>
            <a:off x="10520340" y="4085587"/>
            <a:ext cx="1130378" cy="1113803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Kafka Consumer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AF7D126-FB79-9F03-E249-0CDD52474D37}"/>
              </a:ext>
            </a:extLst>
          </p:cNvPr>
          <p:cNvCxnSpPr>
            <a:cxnSpLocks/>
            <a:stCxn id="49" idx="3"/>
            <a:endCxn id="67" idx="1"/>
          </p:cNvCxnSpPr>
          <p:nvPr/>
        </p:nvCxnSpPr>
        <p:spPr>
          <a:xfrm>
            <a:off x="9602503" y="3447158"/>
            <a:ext cx="922486" cy="0"/>
          </a:xfrm>
          <a:prstGeom prst="straightConnector1">
            <a:avLst/>
          </a:prstGeom>
          <a:ln>
            <a:solidFill>
              <a:srgbClr val="9D9F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D0465B7-3F4B-8072-5814-CCB9041EE416}"/>
              </a:ext>
            </a:extLst>
          </p:cNvPr>
          <p:cNvCxnSpPr>
            <a:cxnSpLocks/>
            <a:stCxn id="47" idx="3"/>
            <a:endCxn id="68" idx="1"/>
          </p:cNvCxnSpPr>
          <p:nvPr/>
        </p:nvCxnSpPr>
        <p:spPr>
          <a:xfrm>
            <a:off x="9412566" y="4294493"/>
            <a:ext cx="1107774" cy="347996"/>
          </a:xfrm>
          <a:prstGeom prst="straightConnector1">
            <a:avLst/>
          </a:prstGeom>
          <a:ln>
            <a:solidFill>
              <a:srgbClr val="9D9F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F1844AA-4587-2F8E-F771-42E84440D532}"/>
              </a:ext>
            </a:extLst>
          </p:cNvPr>
          <p:cNvCxnSpPr>
            <a:cxnSpLocks/>
            <a:stCxn id="61" idx="3"/>
            <a:endCxn id="68" idx="1"/>
          </p:cNvCxnSpPr>
          <p:nvPr/>
        </p:nvCxnSpPr>
        <p:spPr>
          <a:xfrm flipV="1">
            <a:off x="9580275" y="4642489"/>
            <a:ext cx="940065" cy="354876"/>
          </a:xfrm>
          <a:prstGeom prst="straightConnector1">
            <a:avLst/>
          </a:prstGeom>
          <a:ln>
            <a:solidFill>
              <a:srgbClr val="9D9F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16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2F6DE-8B43-2A2C-692F-2431C4A20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F079AED5-CFFB-E47C-4252-31818B5DAD71}"/>
              </a:ext>
            </a:extLst>
          </p:cNvPr>
          <p:cNvSpPr txBox="1">
            <a:spLocks/>
          </p:cNvSpPr>
          <p:nvPr/>
        </p:nvSpPr>
        <p:spPr bwMode="auto">
          <a:xfrm>
            <a:off x="2402051" y="325526"/>
            <a:ext cx="7387897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Consumer Groups: </a:t>
            </a:r>
            <a:r>
              <a:rPr lang="en-US" sz="3700" b="1" dirty="0">
                <a:ea typeface="+mj-ea"/>
                <a:cs typeface="+mj-cs"/>
              </a:rPr>
              <a:t>Teamwork</a:t>
            </a: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!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86FC5-1D34-4711-8B95-4A908E0186FF}"/>
              </a:ext>
            </a:extLst>
          </p:cNvPr>
          <p:cNvSpPr txBox="1"/>
          <p:nvPr/>
        </p:nvSpPr>
        <p:spPr>
          <a:xfrm>
            <a:off x="795512" y="1242164"/>
            <a:ext cx="657761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Multiple consumers working together as a </a:t>
            </a:r>
            <a:r>
              <a:rPr lang="en-US" b="1" dirty="0"/>
              <a:t>group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partition assigned to </a:t>
            </a:r>
            <a:r>
              <a:rPr lang="en-US" b="1" dirty="0"/>
              <a:t>only one </a:t>
            </a:r>
            <a:r>
              <a:rPr lang="en-US" dirty="0"/>
              <a:t>consumer in the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parallel processing </a:t>
            </a:r>
            <a:r>
              <a:rPr lang="en-US" dirty="0"/>
              <a:t>and </a:t>
            </a:r>
            <a:r>
              <a:rPr lang="en-US" b="1" dirty="0"/>
              <a:t>load balancing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consumer fails, its partitions are reassigned → </a:t>
            </a:r>
            <a:r>
              <a:rPr lang="en-US" b="1" dirty="0"/>
              <a:t>fault tolerance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859717-3957-C863-3572-39A4F12C9DF6}"/>
              </a:ext>
            </a:extLst>
          </p:cNvPr>
          <p:cNvGrpSpPr/>
          <p:nvPr/>
        </p:nvGrpSpPr>
        <p:grpSpPr>
          <a:xfrm>
            <a:off x="1820023" y="3861162"/>
            <a:ext cx="4580777" cy="2585323"/>
            <a:chOff x="2795725" y="3792406"/>
            <a:chExt cx="5380990" cy="25853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20F242-E7CF-9679-C0CC-39E82B7912AD}"/>
                </a:ext>
              </a:extLst>
            </p:cNvPr>
            <p:cNvSpPr txBox="1"/>
            <p:nvPr/>
          </p:nvSpPr>
          <p:spPr>
            <a:xfrm>
              <a:off x="2802631" y="3792406"/>
              <a:ext cx="5374084" cy="258532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b="1" dirty="0"/>
                <a:t>Benefits:</a:t>
              </a:r>
              <a:endParaRPr lang="it-IT" dirty="0"/>
            </a:p>
            <a:p>
              <a:endParaRPr lang="en-US" dirty="0"/>
            </a:p>
            <a:p>
              <a:r>
                <a:rPr lang="en-US" dirty="0"/>
                <a:t>	Same group = share the workload </a:t>
              </a:r>
            </a:p>
            <a:p>
              <a:endParaRPr lang="en-US" dirty="0"/>
            </a:p>
            <a:p>
              <a:pPr lvl="1"/>
              <a:r>
                <a:rPr lang="en-US" dirty="0"/>
                <a:t>Different groups = each gets all messages</a:t>
              </a:r>
            </a:p>
            <a:p>
              <a:endParaRPr lang="en-US" dirty="0"/>
            </a:p>
            <a:p>
              <a:r>
                <a:rPr lang="en-US" dirty="0"/>
                <a:t>	Zero message loss</a:t>
              </a:r>
            </a:p>
            <a:p>
              <a:endParaRPr lang="en-US" dirty="0"/>
            </a:p>
            <a:p>
              <a:r>
                <a:rPr lang="en-US" dirty="0"/>
                <a:t>	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A4B9BAB-C019-6632-973B-6AD108804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95726" y="4356399"/>
              <a:ext cx="463391" cy="360013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DE485D2-7E2C-34A7-ABDF-44277BED2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95725" y="4905062"/>
              <a:ext cx="463391" cy="360013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B39709A-FB14-7753-2126-73140285D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95725" y="5469728"/>
              <a:ext cx="463391" cy="360013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1D4ECA8-8D2A-6262-0BD6-CB9948B499ED}"/>
              </a:ext>
            </a:extLst>
          </p:cNvPr>
          <p:cNvGrpSpPr/>
          <p:nvPr/>
        </p:nvGrpSpPr>
        <p:grpSpPr>
          <a:xfrm>
            <a:off x="8025281" y="1604033"/>
            <a:ext cx="3303410" cy="1552702"/>
            <a:chOff x="2870987" y="2579814"/>
            <a:chExt cx="6131972" cy="2681144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DA065A7-6F56-0E72-F321-789AAEC44D40}"/>
                </a:ext>
              </a:extLst>
            </p:cNvPr>
            <p:cNvSpPr/>
            <p:nvPr/>
          </p:nvSpPr>
          <p:spPr>
            <a:xfrm>
              <a:off x="3838798" y="2579814"/>
              <a:ext cx="1130378" cy="494694"/>
            </a:xfrm>
            <a:prstGeom prst="roundRect">
              <a:avLst/>
            </a:prstGeom>
            <a:solidFill>
              <a:srgbClr val="A70C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/>
                <a:t>P0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41BC0A6-CCC8-FEC3-6D21-AE263CA231CB}"/>
                </a:ext>
              </a:extLst>
            </p:cNvPr>
            <p:cNvSpPr/>
            <p:nvPr/>
          </p:nvSpPr>
          <p:spPr>
            <a:xfrm>
              <a:off x="5362442" y="2579814"/>
              <a:ext cx="1130378" cy="494694"/>
            </a:xfrm>
            <a:prstGeom prst="roundRect">
              <a:avLst/>
            </a:prstGeom>
            <a:solidFill>
              <a:srgbClr val="A70C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/>
                <a:t>P1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DFB7756-79D3-CECC-8B78-1262D649246A}"/>
                </a:ext>
              </a:extLst>
            </p:cNvPr>
            <p:cNvSpPr/>
            <p:nvPr/>
          </p:nvSpPr>
          <p:spPr>
            <a:xfrm>
              <a:off x="6886087" y="2579814"/>
              <a:ext cx="1130378" cy="494694"/>
            </a:xfrm>
            <a:prstGeom prst="roundRect">
              <a:avLst/>
            </a:prstGeom>
            <a:solidFill>
              <a:srgbClr val="A70C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/>
                <a:t>P2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B6ABF9A-8519-D8F3-4AF3-8720AB0E0CE5}"/>
                </a:ext>
              </a:extLst>
            </p:cNvPr>
            <p:cNvSpPr/>
            <p:nvPr/>
          </p:nvSpPr>
          <p:spPr>
            <a:xfrm>
              <a:off x="3073732" y="4421171"/>
              <a:ext cx="1130378" cy="494694"/>
            </a:xfrm>
            <a:prstGeom prst="roundRect">
              <a:avLst/>
            </a:prstGeom>
            <a:solidFill>
              <a:srgbClr val="A70C35">
                <a:alpha val="8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b="1" dirty="0"/>
                <a:t>C1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B38D1CD-A07E-A559-7D8F-E2669E0DCDBB}"/>
                </a:ext>
              </a:extLst>
            </p:cNvPr>
            <p:cNvSpPr/>
            <p:nvPr/>
          </p:nvSpPr>
          <p:spPr>
            <a:xfrm>
              <a:off x="4628280" y="4421171"/>
              <a:ext cx="1130378" cy="494694"/>
            </a:xfrm>
            <a:prstGeom prst="roundRect">
              <a:avLst/>
            </a:prstGeom>
            <a:solidFill>
              <a:srgbClr val="A70C35">
                <a:alpha val="8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b="1" dirty="0"/>
                <a:t>C2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0FB5B6D-0695-02D1-CA99-2BC4A58E2903}"/>
                </a:ext>
              </a:extLst>
            </p:cNvPr>
            <p:cNvSpPr/>
            <p:nvPr/>
          </p:nvSpPr>
          <p:spPr>
            <a:xfrm>
              <a:off x="6149058" y="4421171"/>
              <a:ext cx="1130378" cy="494694"/>
            </a:xfrm>
            <a:prstGeom prst="roundRect">
              <a:avLst/>
            </a:prstGeom>
            <a:solidFill>
              <a:srgbClr val="A70C35">
                <a:alpha val="8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b="1" dirty="0"/>
                <a:t>C3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B4EAF27-748C-9CC9-D204-C5E00EF4DFFA}"/>
                </a:ext>
              </a:extLst>
            </p:cNvPr>
            <p:cNvSpPr/>
            <p:nvPr/>
          </p:nvSpPr>
          <p:spPr>
            <a:xfrm>
              <a:off x="7669836" y="4421171"/>
              <a:ext cx="1130378" cy="494694"/>
            </a:xfrm>
            <a:prstGeom prst="roundRect">
              <a:avLst/>
            </a:prstGeom>
            <a:solidFill>
              <a:srgbClr val="A70C3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b="1" dirty="0"/>
                <a:t>C4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8F3B6F9-DA93-6E9C-107A-1F34C51D8B40}"/>
                </a:ext>
              </a:extLst>
            </p:cNvPr>
            <p:cNvCxnSpPr>
              <a:cxnSpLocks/>
              <a:stCxn id="19" idx="2"/>
              <a:endCxn id="23" idx="0"/>
            </p:cNvCxnSpPr>
            <p:nvPr/>
          </p:nvCxnSpPr>
          <p:spPr>
            <a:xfrm flipH="1">
              <a:off x="3638921" y="3074508"/>
              <a:ext cx="765066" cy="1346663"/>
            </a:xfrm>
            <a:prstGeom prst="straightConnector1">
              <a:avLst/>
            </a:prstGeom>
            <a:ln>
              <a:solidFill>
                <a:srgbClr val="9D9F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346F6FB-B266-1377-EBE8-8C2966F3A37D}"/>
                </a:ext>
              </a:extLst>
            </p:cNvPr>
            <p:cNvCxnSpPr>
              <a:cxnSpLocks/>
              <a:stCxn id="20" idx="2"/>
              <a:endCxn id="24" idx="0"/>
            </p:cNvCxnSpPr>
            <p:nvPr/>
          </p:nvCxnSpPr>
          <p:spPr>
            <a:xfrm flipH="1">
              <a:off x="5193469" y="3074508"/>
              <a:ext cx="734162" cy="1346663"/>
            </a:xfrm>
            <a:prstGeom prst="straightConnector1">
              <a:avLst/>
            </a:prstGeom>
            <a:ln>
              <a:solidFill>
                <a:srgbClr val="9D9F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3F5E58C-433E-60A6-9933-B37B52143BF2}"/>
                </a:ext>
              </a:extLst>
            </p:cNvPr>
            <p:cNvCxnSpPr>
              <a:cxnSpLocks/>
              <a:stCxn id="22" idx="2"/>
              <a:endCxn id="25" idx="0"/>
            </p:cNvCxnSpPr>
            <p:nvPr/>
          </p:nvCxnSpPr>
          <p:spPr>
            <a:xfrm flipH="1">
              <a:off x="6714247" y="3074508"/>
              <a:ext cx="737029" cy="1346663"/>
            </a:xfrm>
            <a:prstGeom prst="straightConnector1">
              <a:avLst/>
            </a:prstGeom>
            <a:ln>
              <a:solidFill>
                <a:srgbClr val="9D9F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AE0FF31-0A6A-3E40-54C3-6C56800E6A59}"/>
                </a:ext>
              </a:extLst>
            </p:cNvPr>
            <p:cNvSpPr/>
            <p:nvPr/>
          </p:nvSpPr>
          <p:spPr>
            <a:xfrm>
              <a:off x="2870987" y="4206882"/>
              <a:ext cx="6131972" cy="85502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FBF845-3983-70C0-08E1-49B3EF48F4A5}"/>
                </a:ext>
              </a:extLst>
            </p:cNvPr>
            <p:cNvSpPr txBox="1"/>
            <p:nvPr/>
          </p:nvSpPr>
          <p:spPr>
            <a:xfrm>
              <a:off x="4969175" y="4999349"/>
              <a:ext cx="1247457" cy="261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050" dirty="0"/>
                <a:t>consumer-group-1</a:t>
              </a:r>
              <a:endParaRPr lang="it-IT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1B60040-5738-3428-3D94-00B7819E769F}"/>
              </a:ext>
            </a:extLst>
          </p:cNvPr>
          <p:cNvGrpSpPr/>
          <p:nvPr/>
        </p:nvGrpSpPr>
        <p:grpSpPr>
          <a:xfrm>
            <a:off x="7435392" y="3825157"/>
            <a:ext cx="4151868" cy="2457258"/>
            <a:chOff x="1839259" y="1829992"/>
            <a:chExt cx="8513480" cy="378337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1B24C9E-331F-F2CD-6D1E-F89398B6E91A}"/>
                </a:ext>
              </a:extLst>
            </p:cNvPr>
            <p:cNvGrpSpPr/>
            <p:nvPr/>
          </p:nvGrpSpPr>
          <p:grpSpPr>
            <a:xfrm>
              <a:off x="1839259" y="1829992"/>
              <a:ext cx="8513480" cy="2865250"/>
              <a:chOff x="1611776" y="2426339"/>
              <a:chExt cx="8513480" cy="2865250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E56B47E8-3C34-5A08-1A45-A49F083BBFF3}"/>
                  </a:ext>
                </a:extLst>
              </p:cNvPr>
              <p:cNvSpPr/>
              <p:nvPr/>
            </p:nvSpPr>
            <p:spPr>
              <a:xfrm>
                <a:off x="2720157" y="2426339"/>
                <a:ext cx="1130378" cy="494694"/>
              </a:xfrm>
              <a:prstGeom prst="roundRect">
                <a:avLst/>
              </a:prstGeom>
              <a:solidFill>
                <a:srgbClr val="A70C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/>
                  <a:t>P0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B8425BBA-F421-6433-F542-7343FA0376D6}"/>
                  </a:ext>
                </a:extLst>
              </p:cNvPr>
              <p:cNvSpPr/>
              <p:nvPr/>
            </p:nvSpPr>
            <p:spPr>
              <a:xfrm>
                <a:off x="5716342" y="2426339"/>
                <a:ext cx="1130378" cy="494694"/>
              </a:xfrm>
              <a:prstGeom prst="roundRect">
                <a:avLst/>
              </a:prstGeom>
              <a:solidFill>
                <a:srgbClr val="A70C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/>
                  <a:t>P1</a:t>
                </a: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4B08D0F-02B9-92A8-817C-8C541BDF2C79}"/>
                  </a:ext>
                </a:extLst>
              </p:cNvPr>
              <p:cNvSpPr/>
              <p:nvPr/>
            </p:nvSpPr>
            <p:spPr>
              <a:xfrm>
                <a:off x="8712527" y="2426339"/>
                <a:ext cx="1130378" cy="494694"/>
              </a:xfrm>
              <a:prstGeom prst="roundRect">
                <a:avLst/>
              </a:prstGeom>
              <a:solidFill>
                <a:srgbClr val="A70C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/>
                  <a:t>P2</a:t>
                </a: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AC17A182-1E9C-EA6C-8233-34EE874159A7}"/>
                  </a:ext>
                </a:extLst>
              </p:cNvPr>
              <p:cNvSpPr/>
              <p:nvPr/>
            </p:nvSpPr>
            <p:spPr>
              <a:xfrm>
                <a:off x="1792176" y="4458055"/>
                <a:ext cx="1130378" cy="494694"/>
              </a:xfrm>
              <a:prstGeom prst="roundRect">
                <a:avLst/>
              </a:prstGeom>
              <a:solidFill>
                <a:srgbClr val="A70C35">
                  <a:alpha val="8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b="1" dirty="0"/>
                  <a:t>C1</a:t>
                </a: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5F262A12-5A55-166A-BCAA-CA1C3E33E0B9}"/>
                  </a:ext>
                </a:extLst>
              </p:cNvPr>
              <p:cNvSpPr/>
              <p:nvPr/>
            </p:nvSpPr>
            <p:spPr>
              <a:xfrm>
                <a:off x="3297401" y="4458055"/>
                <a:ext cx="1130378" cy="494694"/>
              </a:xfrm>
              <a:prstGeom prst="roundRect">
                <a:avLst/>
              </a:prstGeom>
              <a:solidFill>
                <a:srgbClr val="A70C35">
                  <a:alpha val="8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b="1" dirty="0"/>
                  <a:t>C2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3921A66C-A9C0-41E5-D3D4-0F3A5FDD633E}"/>
                  </a:ext>
                </a:extLst>
              </p:cNvPr>
              <p:cNvSpPr/>
              <p:nvPr/>
            </p:nvSpPr>
            <p:spPr>
              <a:xfrm>
                <a:off x="5860860" y="4440796"/>
                <a:ext cx="1130378" cy="494694"/>
              </a:xfrm>
              <a:prstGeom prst="roundRect">
                <a:avLst/>
              </a:prstGeom>
              <a:solidFill>
                <a:schemeClr val="accent2">
                  <a:alpha val="8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b="1" dirty="0"/>
                  <a:t>C1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EA3988E8-7002-6F89-3458-C3777E76228E}"/>
                  </a:ext>
                </a:extLst>
              </p:cNvPr>
              <p:cNvSpPr/>
              <p:nvPr/>
            </p:nvSpPr>
            <p:spPr>
              <a:xfrm>
                <a:off x="7382457" y="4440796"/>
                <a:ext cx="1130378" cy="494694"/>
              </a:xfrm>
              <a:prstGeom prst="roundRect">
                <a:avLst/>
              </a:prstGeom>
              <a:solidFill>
                <a:schemeClr val="accent2">
                  <a:alpha val="8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b="1" dirty="0"/>
                  <a:t>C2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297383F1-7DC2-C1C9-66C1-0945DED82242}"/>
                  </a:ext>
                </a:extLst>
              </p:cNvPr>
              <p:cNvCxnSpPr>
                <a:stCxn id="34" idx="2"/>
                <a:endCxn id="38" idx="0"/>
              </p:cNvCxnSpPr>
              <p:nvPr/>
            </p:nvCxnSpPr>
            <p:spPr>
              <a:xfrm flipH="1">
                <a:off x="2357365" y="2921033"/>
                <a:ext cx="927981" cy="1537022"/>
              </a:xfrm>
              <a:prstGeom prst="straightConnector1">
                <a:avLst/>
              </a:prstGeom>
              <a:ln>
                <a:solidFill>
                  <a:srgbClr val="9D9F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B157D9D8-27A0-A613-594D-4CE1DCAC96AF}"/>
                  </a:ext>
                </a:extLst>
              </p:cNvPr>
              <p:cNvSpPr/>
              <p:nvPr/>
            </p:nvSpPr>
            <p:spPr>
              <a:xfrm>
                <a:off x="1611776" y="4261877"/>
                <a:ext cx="2971157" cy="85502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7B12857D-75D7-8EAA-9F07-01BDD10D5372}"/>
                  </a:ext>
                </a:extLst>
              </p:cNvPr>
              <p:cNvCxnSpPr>
                <a:cxnSpLocks/>
                <a:stCxn id="35" idx="2"/>
                <a:endCxn id="38" idx="0"/>
              </p:cNvCxnSpPr>
              <p:nvPr/>
            </p:nvCxnSpPr>
            <p:spPr>
              <a:xfrm flipH="1">
                <a:off x="2357365" y="2921033"/>
                <a:ext cx="3924166" cy="1537022"/>
              </a:xfrm>
              <a:prstGeom prst="straightConnector1">
                <a:avLst/>
              </a:prstGeom>
              <a:ln>
                <a:solidFill>
                  <a:srgbClr val="9D9F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752B5D68-F165-CF6C-9E05-DB5FC218D075}"/>
                  </a:ext>
                </a:extLst>
              </p:cNvPr>
              <p:cNvCxnSpPr>
                <a:cxnSpLocks/>
                <a:stCxn id="36" idx="2"/>
                <a:endCxn id="39" idx="0"/>
              </p:cNvCxnSpPr>
              <p:nvPr/>
            </p:nvCxnSpPr>
            <p:spPr>
              <a:xfrm flipH="1">
                <a:off x="3862590" y="2921033"/>
                <a:ext cx="5415126" cy="1537022"/>
              </a:xfrm>
              <a:prstGeom prst="straightConnector1">
                <a:avLst/>
              </a:prstGeom>
              <a:ln>
                <a:solidFill>
                  <a:srgbClr val="9D9F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0AB7DDF8-8706-2C9D-269E-CE83D4788AD5}"/>
                  </a:ext>
                </a:extLst>
              </p:cNvPr>
              <p:cNvSpPr/>
              <p:nvPr/>
            </p:nvSpPr>
            <p:spPr>
              <a:xfrm>
                <a:off x="5716342" y="4244618"/>
                <a:ext cx="4408914" cy="85502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2C6095CD-0CC3-D08B-CA3B-9D8BBD7DFD15}"/>
                  </a:ext>
                </a:extLst>
              </p:cNvPr>
              <p:cNvSpPr/>
              <p:nvPr/>
            </p:nvSpPr>
            <p:spPr>
              <a:xfrm>
                <a:off x="8860713" y="4440796"/>
                <a:ext cx="1130378" cy="494694"/>
              </a:xfrm>
              <a:prstGeom prst="roundRect">
                <a:avLst/>
              </a:prstGeom>
              <a:solidFill>
                <a:schemeClr val="accent2">
                  <a:alpha val="8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b="1" dirty="0"/>
                  <a:t>C3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4C3867B-1E45-CD2B-D794-670652D21753}"/>
                  </a:ext>
                </a:extLst>
              </p:cNvPr>
              <p:cNvCxnSpPr>
                <a:cxnSpLocks/>
                <a:stCxn id="34" idx="2"/>
                <a:endCxn id="41" idx="0"/>
              </p:cNvCxnSpPr>
              <p:nvPr/>
            </p:nvCxnSpPr>
            <p:spPr>
              <a:xfrm>
                <a:off x="3285346" y="2921033"/>
                <a:ext cx="3140703" cy="1519763"/>
              </a:xfrm>
              <a:prstGeom prst="straightConnector1">
                <a:avLst/>
              </a:prstGeom>
              <a:ln>
                <a:solidFill>
                  <a:srgbClr val="9D9F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7A352906-60CA-4742-7EA7-FE187FBFA50B}"/>
                  </a:ext>
                </a:extLst>
              </p:cNvPr>
              <p:cNvCxnSpPr>
                <a:cxnSpLocks/>
                <a:stCxn id="35" idx="2"/>
                <a:endCxn id="42" idx="0"/>
              </p:cNvCxnSpPr>
              <p:nvPr/>
            </p:nvCxnSpPr>
            <p:spPr>
              <a:xfrm>
                <a:off x="6281531" y="2921033"/>
                <a:ext cx="1666115" cy="1519763"/>
              </a:xfrm>
              <a:prstGeom prst="straightConnector1">
                <a:avLst/>
              </a:prstGeom>
              <a:ln>
                <a:solidFill>
                  <a:srgbClr val="9D9F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40C90070-5B28-4B46-1659-6C5C02F07A64}"/>
                  </a:ext>
                </a:extLst>
              </p:cNvPr>
              <p:cNvCxnSpPr>
                <a:cxnSpLocks/>
                <a:stCxn id="36" idx="2"/>
                <a:endCxn id="48" idx="0"/>
              </p:cNvCxnSpPr>
              <p:nvPr/>
            </p:nvCxnSpPr>
            <p:spPr>
              <a:xfrm>
                <a:off x="9277716" y="2921033"/>
                <a:ext cx="148186" cy="1519763"/>
              </a:xfrm>
              <a:prstGeom prst="straightConnector1">
                <a:avLst/>
              </a:prstGeom>
              <a:ln>
                <a:solidFill>
                  <a:srgbClr val="9D9F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D4C0921-BD8B-69FB-DBE1-1A7221F31461}"/>
                  </a:ext>
                </a:extLst>
              </p:cNvPr>
              <p:cNvSpPr txBox="1"/>
              <p:nvPr/>
            </p:nvSpPr>
            <p:spPr>
              <a:xfrm>
                <a:off x="1849894" y="5029980"/>
                <a:ext cx="1247457" cy="261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1050" dirty="0"/>
                  <a:t>consumer-group-1</a:t>
                </a:r>
                <a:endParaRPr lang="it-IT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15688D2-2E8F-8E82-5177-6C7F9A90F4A6}"/>
                  </a:ext>
                </a:extLst>
              </p:cNvPr>
              <p:cNvSpPr txBox="1"/>
              <p:nvPr/>
            </p:nvSpPr>
            <p:spPr>
              <a:xfrm>
                <a:off x="6851555" y="5037674"/>
                <a:ext cx="1202573" cy="2539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1050" dirty="0"/>
                  <a:t>consumer-group-2</a:t>
                </a:r>
                <a:endParaRPr lang="it-IT" dirty="0"/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C3390EB-C922-4B12-C877-394A1020B0AE}"/>
                </a:ext>
              </a:extLst>
            </p:cNvPr>
            <p:cNvSpPr/>
            <p:nvPr/>
          </p:nvSpPr>
          <p:spPr>
            <a:xfrm>
              <a:off x="2194111" y="5202552"/>
              <a:ext cx="2261447" cy="410818"/>
            </a:xfrm>
            <a:prstGeom prst="rect">
              <a:avLst/>
            </a:prstGeom>
            <a:solidFill>
              <a:srgbClr val="9D9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000" dirty="0"/>
                <a:t>notification service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3C25370-F591-268B-B7A4-E285BD9B4EB6}"/>
                </a:ext>
              </a:extLst>
            </p:cNvPr>
            <p:cNvSpPr/>
            <p:nvPr/>
          </p:nvSpPr>
          <p:spPr>
            <a:xfrm>
              <a:off x="7181147" y="5202551"/>
              <a:ext cx="2200928" cy="410818"/>
            </a:xfrm>
            <a:prstGeom prst="rect">
              <a:avLst/>
            </a:prstGeom>
            <a:solidFill>
              <a:srgbClr val="9D9FA0"/>
            </a:solidFill>
            <a:ln>
              <a:solidFill>
                <a:srgbClr val="9D9F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dirty="0"/>
                <a:t>train-location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227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0E226-6EBC-EBA7-BF97-7999CB0C7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717E201E-FD41-661F-3F04-8488C37992BF}"/>
              </a:ext>
            </a:extLst>
          </p:cNvPr>
          <p:cNvSpPr txBox="1">
            <a:spLocks/>
          </p:cNvSpPr>
          <p:nvPr/>
        </p:nvSpPr>
        <p:spPr bwMode="auto">
          <a:xfrm>
            <a:off x="4354944" y="365206"/>
            <a:ext cx="3482111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3700" b="1" dirty="0"/>
              <a:t>Schema Registry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33198-4153-9342-B4CA-CE35A808A30C}"/>
              </a:ext>
            </a:extLst>
          </p:cNvPr>
          <p:cNvSpPr txBox="1"/>
          <p:nvPr/>
        </p:nvSpPr>
        <p:spPr>
          <a:xfrm>
            <a:off x="764174" y="1553962"/>
            <a:ext cx="644179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Apache Kafka doesn’t validate data streams</a:t>
            </a:r>
          </a:p>
          <a:p>
            <a:endParaRPr lang="it-IT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dirty="0"/>
              <a:t>What if a producer sends bad data?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dirty="0"/>
              <a:t>What if a field gets renamed?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dirty="0"/>
              <a:t>What if the data format changes from one day to another?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F11DF462-9F29-34AF-CFD7-0A20F34CA457}"/>
              </a:ext>
            </a:extLst>
          </p:cNvPr>
          <p:cNvSpPr/>
          <p:nvPr/>
        </p:nvSpPr>
        <p:spPr>
          <a:xfrm>
            <a:off x="7963668" y="1986962"/>
            <a:ext cx="874643" cy="490330"/>
          </a:xfrm>
          <a:prstGeom prst="rightArrow">
            <a:avLst/>
          </a:prstGeom>
          <a:solidFill>
            <a:srgbClr val="B101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EE805D-F0F9-2D21-78D9-D5C79A922645}"/>
              </a:ext>
            </a:extLst>
          </p:cNvPr>
          <p:cNvSpPr txBox="1"/>
          <p:nvPr/>
        </p:nvSpPr>
        <p:spPr>
          <a:xfrm>
            <a:off x="9258447" y="2047462"/>
            <a:ext cx="19832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consumers breaks!</a:t>
            </a:r>
          </a:p>
        </p:txBody>
      </p:sp>
      <p:pic>
        <p:nvPicPr>
          <p:cNvPr id="8" name="Picture 7" descr="A black hexagon with white dots&#10;&#10;AI-generated content may be incorrect.">
            <a:extLst>
              <a:ext uri="{FF2B5EF4-FFF2-40B4-BE49-F238E27FC236}">
                <a16:creationId xmlns:a16="http://schemas.microsoft.com/office/drawing/2014/main" id="{3CC327ED-C936-006F-E549-0EA3F1B1A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866" y="4643427"/>
            <a:ext cx="1361851" cy="102533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31110A-E1AE-E764-6FC4-C2993CB44257}"/>
              </a:ext>
            </a:extLst>
          </p:cNvPr>
          <p:cNvSpPr/>
          <p:nvPr/>
        </p:nvSpPr>
        <p:spPr>
          <a:xfrm>
            <a:off x="5633615" y="3429000"/>
            <a:ext cx="1572356" cy="526378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Schema Registry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7A6DB0-E682-7F00-3AF7-03C785F0A044}"/>
              </a:ext>
            </a:extLst>
          </p:cNvPr>
          <p:cNvSpPr/>
          <p:nvPr/>
        </p:nvSpPr>
        <p:spPr>
          <a:xfrm>
            <a:off x="3652415" y="4892904"/>
            <a:ext cx="1572356" cy="526378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Producer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06F9B8-B76B-9D0F-8427-4E71D190E4AC}"/>
              </a:ext>
            </a:extLst>
          </p:cNvPr>
          <p:cNvSpPr/>
          <p:nvPr/>
        </p:nvSpPr>
        <p:spPr>
          <a:xfrm>
            <a:off x="7614812" y="4900241"/>
            <a:ext cx="1572356" cy="526378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Consumer</a:t>
            </a: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6ACF33F9-2B72-25AE-3572-331AC61A6181}"/>
              </a:ext>
            </a:extLst>
          </p:cNvPr>
          <p:cNvSpPr/>
          <p:nvPr/>
        </p:nvSpPr>
        <p:spPr>
          <a:xfrm>
            <a:off x="2299869" y="4717898"/>
            <a:ext cx="808383" cy="87639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Source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55CE34-95C7-88A5-2509-3F02A71EFE80}"/>
              </a:ext>
            </a:extLst>
          </p:cNvPr>
          <p:cNvCxnSpPr>
            <a:stCxn id="12" idx="4"/>
            <a:endCxn id="10" idx="1"/>
          </p:cNvCxnSpPr>
          <p:nvPr/>
        </p:nvCxnSpPr>
        <p:spPr>
          <a:xfrm>
            <a:off x="3108252" y="5156093"/>
            <a:ext cx="544163" cy="0"/>
          </a:xfrm>
          <a:prstGeom prst="straightConnector1">
            <a:avLst/>
          </a:prstGeom>
          <a:ln>
            <a:solidFill>
              <a:srgbClr val="9D9F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9B8CC5-E4D7-3998-ECB4-C936D4656110}"/>
              </a:ext>
            </a:extLst>
          </p:cNvPr>
          <p:cNvCxnSpPr>
            <a:stCxn id="10" idx="0"/>
            <a:endCxn id="9" idx="1"/>
          </p:cNvCxnSpPr>
          <p:nvPr/>
        </p:nvCxnSpPr>
        <p:spPr>
          <a:xfrm flipV="1">
            <a:off x="4438593" y="3692189"/>
            <a:ext cx="1195022" cy="1200715"/>
          </a:xfrm>
          <a:prstGeom prst="straightConnector1">
            <a:avLst/>
          </a:prstGeom>
          <a:ln>
            <a:solidFill>
              <a:srgbClr val="9D9F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859CA3-88CF-6ABF-6C07-F6970499710B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6417488" y="3955378"/>
            <a:ext cx="2305" cy="937526"/>
          </a:xfrm>
          <a:prstGeom prst="straightConnector1">
            <a:avLst/>
          </a:prstGeom>
          <a:ln>
            <a:solidFill>
              <a:srgbClr val="9D9F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321FF6-B40C-0FDB-2B39-490174E0086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224771" y="5156093"/>
            <a:ext cx="922939" cy="0"/>
          </a:xfrm>
          <a:prstGeom prst="straightConnector1">
            <a:avLst/>
          </a:prstGeom>
          <a:ln>
            <a:solidFill>
              <a:srgbClr val="9D9F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0C1C03-F279-89BB-F377-353F60A9BD74}"/>
              </a:ext>
            </a:extLst>
          </p:cNvPr>
          <p:cNvCxnSpPr>
            <a:cxnSpLocks/>
          </p:cNvCxnSpPr>
          <p:nvPr/>
        </p:nvCxnSpPr>
        <p:spPr>
          <a:xfrm>
            <a:off x="6691873" y="5156093"/>
            <a:ext cx="922939" cy="0"/>
          </a:xfrm>
          <a:prstGeom prst="straightConnector1">
            <a:avLst/>
          </a:prstGeom>
          <a:ln>
            <a:solidFill>
              <a:srgbClr val="9D9F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303868-645A-DBA4-DC4C-1A5D2A82A072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>
            <a:off x="7205971" y="3692189"/>
            <a:ext cx="1195019" cy="1208052"/>
          </a:xfrm>
          <a:prstGeom prst="straightConnector1">
            <a:avLst/>
          </a:prstGeom>
          <a:ln>
            <a:solidFill>
              <a:srgbClr val="9D9F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ylinder 26">
            <a:extLst>
              <a:ext uri="{FF2B5EF4-FFF2-40B4-BE49-F238E27FC236}">
                <a16:creationId xmlns:a16="http://schemas.microsoft.com/office/drawing/2014/main" id="{CE81BE92-15E9-2E53-8901-304929D8BC03}"/>
              </a:ext>
            </a:extLst>
          </p:cNvPr>
          <p:cNvSpPr/>
          <p:nvPr/>
        </p:nvSpPr>
        <p:spPr>
          <a:xfrm>
            <a:off x="9701263" y="4725235"/>
            <a:ext cx="808383" cy="87639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Target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DB1605-76EC-273D-FE43-37EF675C1424}"/>
              </a:ext>
            </a:extLst>
          </p:cNvPr>
          <p:cNvCxnSpPr>
            <a:cxnSpLocks/>
            <a:stCxn id="11" idx="3"/>
            <a:endCxn id="27" idx="2"/>
          </p:cNvCxnSpPr>
          <p:nvPr/>
        </p:nvCxnSpPr>
        <p:spPr>
          <a:xfrm>
            <a:off x="9187168" y="5163430"/>
            <a:ext cx="514095" cy="0"/>
          </a:xfrm>
          <a:prstGeom prst="straightConnector1">
            <a:avLst/>
          </a:prstGeom>
          <a:ln>
            <a:solidFill>
              <a:srgbClr val="9D9F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3C59679-3951-B245-D34E-28ABA1D78579}"/>
              </a:ext>
            </a:extLst>
          </p:cNvPr>
          <p:cNvSpPr txBox="1"/>
          <p:nvPr/>
        </p:nvSpPr>
        <p:spPr>
          <a:xfrm>
            <a:off x="4174949" y="4102779"/>
            <a:ext cx="9268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/>
              <a:t>send schema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FF173B9-21F6-4D85-18C0-09878E287B0E}"/>
              </a:ext>
            </a:extLst>
          </p:cNvPr>
          <p:cNvSpPr/>
          <p:nvPr/>
        </p:nvSpPr>
        <p:spPr>
          <a:xfrm>
            <a:off x="5958323" y="4253376"/>
            <a:ext cx="922939" cy="318368"/>
          </a:xfrm>
          <a:prstGeom prst="ellipse">
            <a:avLst/>
          </a:prstGeom>
          <a:solidFill>
            <a:srgbClr val="9D9F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>
                <a:solidFill>
                  <a:schemeClr val="tx1"/>
                </a:solidFill>
              </a:rPr>
              <a:t>validate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F6E8E1-496D-2792-38E8-F0CE87D8F787}"/>
              </a:ext>
            </a:extLst>
          </p:cNvPr>
          <p:cNvSpPr txBox="1"/>
          <p:nvPr/>
        </p:nvSpPr>
        <p:spPr>
          <a:xfrm>
            <a:off x="7722952" y="4102779"/>
            <a:ext cx="10711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/>
              <a:t>receive schema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A7B43A8-7777-DDC4-ECD0-E0D2DD5A46D7}"/>
              </a:ext>
            </a:extLst>
          </p:cNvPr>
          <p:cNvSpPr/>
          <p:nvPr/>
        </p:nvSpPr>
        <p:spPr>
          <a:xfrm>
            <a:off x="5362585" y="5036870"/>
            <a:ext cx="595738" cy="222923"/>
          </a:xfrm>
          <a:prstGeom prst="ellipse">
            <a:avLst/>
          </a:prstGeom>
          <a:solidFill>
            <a:srgbClr val="9D9F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>
                <a:solidFill>
                  <a:schemeClr val="tx1"/>
                </a:solidFill>
              </a:rPr>
              <a:t>avro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2FA7A67-8F3C-F717-1C1C-C87F5F39EDFC}"/>
              </a:ext>
            </a:extLst>
          </p:cNvPr>
          <p:cNvSpPr/>
          <p:nvPr/>
        </p:nvSpPr>
        <p:spPr>
          <a:xfrm>
            <a:off x="6830900" y="5036870"/>
            <a:ext cx="595738" cy="222923"/>
          </a:xfrm>
          <a:prstGeom prst="ellipse">
            <a:avLst/>
          </a:prstGeom>
          <a:solidFill>
            <a:srgbClr val="9D9F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>
                <a:solidFill>
                  <a:schemeClr val="tx1"/>
                </a:solidFill>
              </a:rPr>
              <a:t>avro</a:t>
            </a:r>
          </a:p>
        </p:txBody>
      </p:sp>
    </p:spTree>
    <p:extLst>
      <p:ext uri="{BB962C8B-B14F-4D97-AF65-F5344CB8AC3E}">
        <p14:creationId xmlns:p14="http://schemas.microsoft.com/office/powerpoint/2010/main" val="3958010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DA411-7FB5-F67C-E9CA-7BC1934BD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628107B3-5873-D0B2-F369-D4ED1ABF8ABD}"/>
              </a:ext>
            </a:extLst>
          </p:cNvPr>
          <p:cNvSpPr txBox="1">
            <a:spLocks/>
          </p:cNvSpPr>
          <p:nvPr/>
        </p:nvSpPr>
        <p:spPr bwMode="auto">
          <a:xfrm>
            <a:off x="4766990" y="514663"/>
            <a:ext cx="2767285" cy="528488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3700" b="1" dirty="0"/>
              <a:t>Apache Avro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E44E92-676C-4B71-BBF2-9656DA7AEE0D}"/>
              </a:ext>
            </a:extLst>
          </p:cNvPr>
          <p:cNvGrpSpPr/>
          <p:nvPr/>
        </p:nvGrpSpPr>
        <p:grpSpPr>
          <a:xfrm>
            <a:off x="2298004" y="1970251"/>
            <a:ext cx="3129386" cy="1206500"/>
            <a:chOff x="1637604" y="1970251"/>
            <a:chExt cx="3129386" cy="1206500"/>
          </a:xfrm>
          <a:effectLst/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32A854A-092F-3B72-F494-BD2934321C2E}"/>
                </a:ext>
              </a:extLst>
            </p:cNvPr>
            <p:cNvSpPr/>
            <p:nvPr/>
          </p:nvSpPr>
          <p:spPr>
            <a:xfrm>
              <a:off x="1913247" y="2363950"/>
              <a:ext cx="2578100" cy="812801"/>
            </a:xfrm>
            <a:prstGeom prst="roundRect">
              <a:avLst/>
            </a:prstGeom>
            <a:solidFill>
              <a:srgbClr val="A49D9A"/>
            </a:solidFill>
            <a:ln>
              <a:noFill/>
            </a:ln>
            <a:effectLst>
              <a:glow>
                <a:schemeClr val="accent1">
                  <a:alpha val="40000"/>
                </a:schemeClr>
              </a:glow>
              <a:outerShdw sx="1000" sy="1000" algn="ctr" rotWithShape="0">
                <a:srgbClr val="000000">
                  <a:alpha val="43137"/>
                </a:srgbClr>
              </a:outerShdw>
              <a:reflection blurRad="838200" stA="0" endPos="65000" dist="50800" dir="5400000" sy="-100000" algn="bl" rotWithShape="0"/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it-IT" altLang="it-IT" sz="1600" dirty="0"/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altLang="it-IT" sz="1600" dirty="0"/>
                <a:t>efficient, compact, binary format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54FA161-CA64-478F-C48B-22C7CDCC2054}"/>
                </a:ext>
              </a:extLst>
            </p:cNvPr>
            <p:cNvSpPr/>
            <p:nvPr/>
          </p:nvSpPr>
          <p:spPr>
            <a:xfrm>
              <a:off x="1637604" y="1970251"/>
              <a:ext cx="3129386" cy="635000"/>
            </a:xfrm>
            <a:prstGeom prst="roundRect">
              <a:avLst/>
            </a:prstGeom>
            <a:solidFill>
              <a:srgbClr val="A70C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altLang="it-IT" b="1" dirty="0"/>
                <a:t>Data Serialization Framework</a:t>
              </a:r>
              <a:endParaRPr lang="it-IT" altLang="it-IT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E0DE4D4-D792-6233-F6D4-ADC8F16AB578}"/>
              </a:ext>
            </a:extLst>
          </p:cNvPr>
          <p:cNvGrpSpPr/>
          <p:nvPr/>
        </p:nvGrpSpPr>
        <p:grpSpPr>
          <a:xfrm>
            <a:off x="7149367" y="1970251"/>
            <a:ext cx="3129386" cy="1206500"/>
            <a:chOff x="1637604" y="1970251"/>
            <a:chExt cx="3129386" cy="1206500"/>
          </a:xfrm>
          <a:effectLst/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D6C31BA-BE98-FC5B-DFD2-8DA0CAF1407E}"/>
                </a:ext>
              </a:extLst>
            </p:cNvPr>
            <p:cNvSpPr/>
            <p:nvPr/>
          </p:nvSpPr>
          <p:spPr>
            <a:xfrm>
              <a:off x="1913247" y="2363950"/>
              <a:ext cx="2578100" cy="812801"/>
            </a:xfrm>
            <a:prstGeom prst="roundRect">
              <a:avLst/>
            </a:prstGeom>
            <a:solidFill>
              <a:srgbClr val="A49D9A"/>
            </a:solidFill>
            <a:ln>
              <a:noFill/>
            </a:ln>
            <a:effectLst>
              <a:glow>
                <a:schemeClr val="accent1">
                  <a:alpha val="40000"/>
                </a:schemeClr>
              </a:glow>
              <a:outerShdw sx="1000" sy="1000" algn="ctr" rotWithShape="0">
                <a:srgbClr val="000000">
                  <a:alpha val="43137"/>
                </a:srgbClr>
              </a:outerShdw>
              <a:reflection blurRad="838200" stA="0" endPos="65000" dist="50800" dir="5400000" sy="-100000" algn="bl" rotWithShape="0"/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it-IT" altLang="it-IT" sz="1600" dirty="0"/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altLang="it-IT" sz="1600" dirty="0"/>
                <a:t>backward &amp; forward compatibility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46724DC-66F6-FA79-5EED-BCB2696222E1}"/>
                </a:ext>
              </a:extLst>
            </p:cNvPr>
            <p:cNvSpPr/>
            <p:nvPr/>
          </p:nvSpPr>
          <p:spPr>
            <a:xfrm>
              <a:off x="1637604" y="1970251"/>
              <a:ext cx="3129386" cy="635000"/>
            </a:xfrm>
            <a:prstGeom prst="roundRect">
              <a:avLst/>
            </a:prstGeom>
            <a:solidFill>
              <a:srgbClr val="A70C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altLang="it-IT" b="1" dirty="0"/>
                <a:t>Schema Evolution</a:t>
              </a:r>
              <a:endParaRPr lang="it-IT" altLang="it-IT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013B7ED-C98A-D676-DB68-26D965051AAC}"/>
              </a:ext>
            </a:extLst>
          </p:cNvPr>
          <p:cNvGrpSpPr/>
          <p:nvPr/>
        </p:nvGrpSpPr>
        <p:grpSpPr>
          <a:xfrm>
            <a:off x="2298004" y="4115899"/>
            <a:ext cx="3129386" cy="1206500"/>
            <a:chOff x="1637604" y="1970251"/>
            <a:chExt cx="3129386" cy="1206500"/>
          </a:xfrm>
          <a:effectLst/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AC4D14D-A32F-1500-D97B-C2C763756F99}"/>
                </a:ext>
              </a:extLst>
            </p:cNvPr>
            <p:cNvSpPr/>
            <p:nvPr/>
          </p:nvSpPr>
          <p:spPr>
            <a:xfrm>
              <a:off x="1913247" y="2363950"/>
              <a:ext cx="2578100" cy="812801"/>
            </a:xfrm>
            <a:prstGeom prst="roundRect">
              <a:avLst/>
            </a:prstGeom>
            <a:solidFill>
              <a:srgbClr val="A49D9A"/>
            </a:solidFill>
            <a:ln>
              <a:noFill/>
            </a:ln>
            <a:effectLst>
              <a:glow>
                <a:schemeClr val="accent1">
                  <a:alpha val="40000"/>
                </a:schemeClr>
              </a:glow>
              <a:outerShdw sx="1000" sy="1000" algn="ctr" rotWithShape="0">
                <a:srgbClr val="000000">
                  <a:alpha val="43137"/>
                </a:srgbClr>
              </a:outerShdw>
              <a:reflection blurRad="838200" stA="0" endPos="65000" dist="50800" dir="5400000" sy="-100000" algn="bl" rotWithShape="0"/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it-IT" altLang="it-IT" sz="1600" dirty="0"/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altLang="it-IT" sz="1600" dirty="0"/>
                <a:t>schema readable (JSON)</a:t>
              </a: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altLang="it-IT" sz="1600" dirty="0"/>
                <a:t>Data is not (binary)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F3D6E88-FE24-BC73-9F8C-71797847CC36}"/>
                </a:ext>
              </a:extLst>
            </p:cNvPr>
            <p:cNvSpPr/>
            <p:nvPr/>
          </p:nvSpPr>
          <p:spPr>
            <a:xfrm>
              <a:off x="1637604" y="1970251"/>
              <a:ext cx="3129386" cy="635000"/>
            </a:xfrm>
            <a:prstGeom prst="roundRect">
              <a:avLst/>
            </a:prstGeom>
            <a:solidFill>
              <a:srgbClr val="A70C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altLang="it-IT" b="1" dirty="0"/>
                <a:t>Readability</a:t>
              </a:r>
              <a:endParaRPr lang="it-IT" altLang="it-IT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C94E453-5226-A7E3-B5BE-E3EBA287828E}"/>
              </a:ext>
            </a:extLst>
          </p:cNvPr>
          <p:cNvGrpSpPr/>
          <p:nvPr/>
        </p:nvGrpSpPr>
        <p:grpSpPr>
          <a:xfrm>
            <a:off x="7149367" y="4115899"/>
            <a:ext cx="3129386" cy="1206500"/>
            <a:chOff x="1637604" y="1970251"/>
            <a:chExt cx="3129386" cy="1206500"/>
          </a:xfrm>
          <a:effectLst/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CF686A6-726A-AA86-7681-22D2F6897064}"/>
                </a:ext>
              </a:extLst>
            </p:cNvPr>
            <p:cNvSpPr/>
            <p:nvPr/>
          </p:nvSpPr>
          <p:spPr>
            <a:xfrm>
              <a:off x="1913247" y="2363950"/>
              <a:ext cx="2578100" cy="812801"/>
            </a:xfrm>
            <a:prstGeom prst="roundRect">
              <a:avLst/>
            </a:prstGeom>
            <a:solidFill>
              <a:srgbClr val="A49D9A"/>
            </a:solidFill>
            <a:ln>
              <a:noFill/>
            </a:ln>
            <a:effectLst>
              <a:glow>
                <a:schemeClr val="accent1">
                  <a:alpha val="40000"/>
                </a:schemeClr>
              </a:glow>
              <a:outerShdw sx="1000" sy="1000" algn="ctr" rotWithShape="0">
                <a:srgbClr val="000000">
                  <a:alpha val="43137"/>
                </a:srgbClr>
              </a:outerShdw>
              <a:reflection blurRad="838200" stA="0" endPos="65000" dist="50800" dir="5400000" sy="-100000" algn="bl" rotWithShape="0"/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it-IT" altLang="it-IT" sz="1600" dirty="0"/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altLang="it-IT" sz="1600" dirty="0"/>
                <a:t>JSON-defined schemas &amp; ensures data consistency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3E22C5A-0B20-DC15-0E11-A409C2B4731D}"/>
                </a:ext>
              </a:extLst>
            </p:cNvPr>
            <p:cNvSpPr/>
            <p:nvPr/>
          </p:nvSpPr>
          <p:spPr>
            <a:xfrm>
              <a:off x="1637604" y="1970251"/>
              <a:ext cx="3129386" cy="635000"/>
            </a:xfrm>
            <a:prstGeom prst="roundRect">
              <a:avLst/>
            </a:prstGeom>
            <a:solidFill>
              <a:srgbClr val="A70C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altLang="it-IT" b="1" dirty="0"/>
                <a:t>Schema-based</a:t>
              </a:r>
              <a:endParaRPr lang="it-IT" alt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110715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60118-9C05-DACD-9CBF-5ACBB5E23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EB484EE1-5379-6A67-0A27-A3415E3B9554}"/>
              </a:ext>
            </a:extLst>
          </p:cNvPr>
          <p:cNvSpPr txBox="1">
            <a:spLocks/>
          </p:cNvSpPr>
          <p:nvPr/>
        </p:nvSpPr>
        <p:spPr bwMode="auto">
          <a:xfrm>
            <a:off x="2563776" y="391710"/>
            <a:ext cx="6925029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Kafka vs RabbitMQ/ActiveMQ </a:t>
            </a:r>
            <a:r>
              <a:rPr lang="it-IT" sz="3700" b="1" dirty="0"/>
              <a:t>🥊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C1540-E274-72F8-24C0-C901BCAC34EB}"/>
              </a:ext>
            </a:extLst>
          </p:cNvPr>
          <p:cNvSpPr txBox="1"/>
          <p:nvPr/>
        </p:nvSpPr>
        <p:spPr>
          <a:xfrm>
            <a:off x="1411936" y="1892649"/>
            <a:ext cx="461435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Kafka Advantages:</a:t>
            </a:r>
          </a:p>
          <a:p>
            <a:endParaRPr lang="it-IT" dirty="0"/>
          </a:p>
          <a:p>
            <a:r>
              <a:rPr lang="it-IT" dirty="0"/>
              <a:t>✅ </a:t>
            </a:r>
            <a:r>
              <a:rPr lang="en-US" dirty="0"/>
              <a:t>Higher throughput (millions of </a:t>
            </a:r>
            <a:r>
              <a:rPr lang="en-US" dirty="0" err="1"/>
              <a:t>msgs</a:t>
            </a:r>
            <a:r>
              <a:rPr lang="en-US" dirty="0"/>
              <a:t>/sec) </a:t>
            </a:r>
          </a:p>
          <a:p>
            <a:r>
              <a:rPr lang="it-IT" dirty="0"/>
              <a:t>✅ </a:t>
            </a:r>
            <a:r>
              <a:rPr lang="en-US" dirty="0"/>
              <a:t>Persistent storage (replay capability) </a:t>
            </a:r>
          </a:p>
          <a:p>
            <a:r>
              <a:rPr lang="it-IT" dirty="0"/>
              <a:t>✅ </a:t>
            </a:r>
            <a:r>
              <a:rPr lang="en-US" dirty="0"/>
              <a:t>Horizontal scalability </a:t>
            </a:r>
          </a:p>
          <a:p>
            <a:r>
              <a:rPr lang="it-IT" dirty="0"/>
              <a:t>✅ </a:t>
            </a:r>
            <a:r>
              <a:rPr lang="en-US" dirty="0"/>
              <a:t>Built for streaming &amp; big data</a:t>
            </a:r>
            <a:endParaRPr lang="it-IT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28BB82-16EA-4EE4-C470-D656E65EB654}"/>
              </a:ext>
            </a:extLst>
          </p:cNvPr>
          <p:cNvSpPr txBox="1"/>
          <p:nvPr/>
        </p:nvSpPr>
        <p:spPr>
          <a:xfrm>
            <a:off x="4311055" y="4453512"/>
            <a:ext cx="356988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When to use Kafka:</a:t>
            </a:r>
            <a:endParaRPr lang="it-IT" dirty="0"/>
          </a:p>
          <a:p>
            <a:r>
              <a:rPr lang="en-US" dirty="0"/>
              <a:t>📌High volume event streaming</a:t>
            </a:r>
          </a:p>
          <a:p>
            <a:r>
              <a:rPr lang="en-US" dirty="0"/>
              <a:t>📌 Log aggregation</a:t>
            </a:r>
          </a:p>
          <a:p>
            <a:r>
              <a:rPr lang="en-US" dirty="0"/>
              <a:t>📌 Real-time analytics</a:t>
            </a:r>
          </a:p>
          <a:p>
            <a:r>
              <a:rPr lang="en-US" dirty="0"/>
              <a:t>📌 Event sourcing</a:t>
            </a:r>
            <a:endParaRPr lang="it-IT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DF5042-217F-1DFC-CC64-0DD4F5DA04D7}"/>
              </a:ext>
            </a:extLst>
          </p:cNvPr>
          <p:cNvSpPr txBox="1"/>
          <p:nvPr/>
        </p:nvSpPr>
        <p:spPr>
          <a:xfrm>
            <a:off x="6299830" y="1892649"/>
            <a:ext cx="461435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Traditional Messaging:</a:t>
            </a:r>
          </a:p>
          <a:p>
            <a:endParaRPr lang="it-IT" dirty="0"/>
          </a:p>
          <a:p>
            <a:r>
              <a:rPr lang="en-US" dirty="0"/>
              <a:t>❎</a:t>
            </a:r>
            <a:r>
              <a:rPr lang="it-IT" dirty="0"/>
              <a:t> </a:t>
            </a:r>
            <a:r>
              <a:rPr lang="it-IT" dirty="0" err="1"/>
              <a:t>Complex</a:t>
            </a:r>
            <a:r>
              <a:rPr lang="it-IT" dirty="0"/>
              <a:t> routing (exchanges, bindings)</a:t>
            </a:r>
          </a:p>
          <a:p>
            <a:r>
              <a:rPr lang="en-US" dirty="0"/>
              <a:t>❎</a:t>
            </a:r>
            <a:r>
              <a:rPr lang="it-IT" dirty="0"/>
              <a:t> </a:t>
            </a:r>
            <a:r>
              <a:rPr lang="en-US" dirty="0"/>
              <a:t>Lower latency for small messages </a:t>
            </a:r>
          </a:p>
          <a:p>
            <a:r>
              <a:rPr lang="en-US" dirty="0"/>
              <a:t>❎</a:t>
            </a:r>
            <a:r>
              <a:rPr lang="it-IT" dirty="0"/>
              <a:t> </a:t>
            </a:r>
            <a:r>
              <a:rPr lang="en-US" dirty="0"/>
              <a:t>Message priority queues </a:t>
            </a:r>
          </a:p>
          <a:p>
            <a:r>
              <a:rPr lang="en-US" dirty="0"/>
              <a:t>❎</a:t>
            </a:r>
            <a:r>
              <a:rPr lang="it-IT" dirty="0"/>
              <a:t> </a:t>
            </a:r>
            <a:r>
              <a:rPr lang="en-US" dirty="0"/>
              <a:t>Simpler request/reply patterns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8090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1D9F7-3AFC-067D-9A5D-33A8FF42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AD56AC11-079F-6D3C-741C-784CA7E735DE}"/>
              </a:ext>
            </a:extLst>
          </p:cNvPr>
          <p:cNvSpPr txBox="1">
            <a:spLocks/>
          </p:cNvSpPr>
          <p:nvPr/>
        </p:nvSpPr>
        <p:spPr bwMode="auto">
          <a:xfrm>
            <a:off x="2804155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Our Workshop Architecture </a:t>
            </a:r>
            <a:r>
              <a:rPr lang="it-IT" sz="3700" b="1" dirty="0"/>
              <a:t>🏗️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FBD319-1CC6-0D63-B1D4-2EC6E062C625}"/>
              </a:ext>
            </a:extLst>
          </p:cNvPr>
          <p:cNvSpPr txBox="1"/>
          <p:nvPr/>
        </p:nvSpPr>
        <p:spPr>
          <a:xfrm>
            <a:off x="1671344" y="1443841"/>
            <a:ext cx="978837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Services: </a:t>
            </a:r>
          </a:p>
          <a:p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Producer: </a:t>
            </a:r>
            <a:r>
              <a:rPr lang="it-IT" dirty="0"/>
              <a:t>TrainLocationSimulator (Java) - generates train positions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Maintenance Alerter: </a:t>
            </a:r>
            <a:r>
              <a:rPr lang="fr-FR" dirty="0" err="1"/>
              <a:t>MaintenanceAlerter</a:t>
            </a:r>
            <a:r>
              <a:rPr lang="fr-FR" dirty="0"/>
              <a:t> (Python) - slow train </a:t>
            </a:r>
            <a:r>
              <a:rPr lang="fr-FR" dirty="0" err="1"/>
              <a:t>alerts</a:t>
            </a:r>
            <a:r>
              <a:rPr lang="fr-FR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Dashboard Consumer: </a:t>
            </a:r>
            <a:r>
              <a:rPr lang="en-US" dirty="0" err="1"/>
              <a:t>TrainConsumerDashboard</a:t>
            </a:r>
            <a:r>
              <a:rPr lang="en-US" b="1" dirty="0"/>
              <a:t> </a:t>
            </a:r>
            <a:r>
              <a:rPr lang="it-IT" dirty="0"/>
              <a:t>(Java) - </a:t>
            </a:r>
            <a:r>
              <a:rPr lang="en-US" dirty="0"/>
              <a:t>Demonstrates partition rebalancing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Stream Processor: </a:t>
            </a:r>
            <a:r>
              <a:rPr lang="en-US" dirty="0" err="1"/>
              <a:t>SpeedAnalysisStream</a:t>
            </a:r>
            <a:r>
              <a:rPr lang="en-US" dirty="0"/>
              <a:t> (</a:t>
            </a:r>
            <a:r>
              <a:rPr lang="it-IT" dirty="0"/>
              <a:t>Java, </a:t>
            </a:r>
            <a:r>
              <a:rPr lang="en-US" dirty="0"/>
              <a:t>Kafka Streams) - calculates averages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it-IT" b="1" dirty="0" err="1"/>
              <a:t>WebSocket</a:t>
            </a:r>
            <a:r>
              <a:rPr lang="it-IT" b="1" dirty="0"/>
              <a:t> Dashboard: </a:t>
            </a:r>
            <a:r>
              <a:rPr lang="it-IT" dirty="0" err="1"/>
              <a:t>TrainWebsocket</a:t>
            </a:r>
            <a:r>
              <a:rPr lang="it-IT" dirty="0"/>
              <a:t> (Java, </a:t>
            </a:r>
            <a:r>
              <a:rPr lang="it-IT" dirty="0" err="1"/>
              <a:t>WebSocket</a:t>
            </a:r>
            <a:r>
              <a:rPr lang="it-IT" dirty="0"/>
              <a:t>) - real-time </a:t>
            </a:r>
            <a:r>
              <a:rPr lang="it-IT" dirty="0" err="1"/>
              <a:t>visualization</a:t>
            </a:r>
            <a:r>
              <a:rPr lang="it-IT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endParaRPr lang="en-US" dirty="0"/>
          </a:p>
          <a:p>
            <a:r>
              <a:rPr lang="en-US" dirty="0"/>
              <a:t>All connected through Kafka topics! </a:t>
            </a:r>
            <a:r>
              <a:rPr lang="it-IT" dirty="0"/>
              <a:t>🔄</a:t>
            </a:r>
          </a:p>
        </p:txBody>
      </p:sp>
    </p:spTree>
    <p:extLst>
      <p:ext uri="{BB962C8B-B14F-4D97-AF65-F5344CB8AC3E}">
        <p14:creationId xmlns:p14="http://schemas.microsoft.com/office/powerpoint/2010/main" val="260038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E4F52-40BF-A845-CD05-6BBC7F746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247E5777-4A37-ED78-BA0A-139DB69CC238}"/>
              </a:ext>
            </a:extLst>
          </p:cNvPr>
          <p:cNvSpPr txBox="1">
            <a:spLocks/>
          </p:cNvSpPr>
          <p:nvPr/>
        </p:nvSpPr>
        <p:spPr bwMode="auto">
          <a:xfrm>
            <a:off x="2118148" y="354132"/>
            <a:ext cx="7955703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Our Workshop Architecture: topic </a:t>
            </a:r>
            <a:r>
              <a:rPr lang="it-IT" sz="4000" b="1" dirty="0" err="1"/>
              <a:t>train</a:t>
            </a:r>
            <a:r>
              <a:rPr lang="it-IT" sz="4000" b="1" dirty="0"/>
              <a:t>-locations</a:t>
            </a:r>
            <a:r>
              <a:rPr lang="it-IT" sz="3700" b="1" dirty="0"/>
              <a:t>🏗️</a:t>
            </a:r>
          </a:p>
        </p:txBody>
      </p:sp>
      <p:sp>
        <p:nvSpPr>
          <p:cNvPr id="2" name="Rectangle: Rounded Corners 67">
            <a:extLst>
              <a:ext uri="{FF2B5EF4-FFF2-40B4-BE49-F238E27FC236}">
                <a16:creationId xmlns:a16="http://schemas.microsoft.com/office/drawing/2014/main" id="{B8AC3782-1840-6123-E594-BC370A9F37A4}"/>
              </a:ext>
            </a:extLst>
          </p:cNvPr>
          <p:cNvSpPr/>
          <p:nvPr/>
        </p:nvSpPr>
        <p:spPr>
          <a:xfrm>
            <a:off x="1289074" y="3081797"/>
            <a:ext cx="2008875" cy="694403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TrainLocationSimulator</a:t>
            </a:r>
            <a:endParaRPr lang="it-IT" sz="1400" dirty="0"/>
          </a:p>
        </p:txBody>
      </p:sp>
      <p:sp>
        <p:nvSpPr>
          <p:cNvPr id="3" name="Rectangle: Rounded Corners 67">
            <a:extLst>
              <a:ext uri="{FF2B5EF4-FFF2-40B4-BE49-F238E27FC236}">
                <a16:creationId xmlns:a16="http://schemas.microsoft.com/office/drawing/2014/main" id="{C9BB5257-D380-52C4-1EFE-CE1E722BCD5C}"/>
              </a:ext>
            </a:extLst>
          </p:cNvPr>
          <p:cNvSpPr/>
          <p:nvPr/>
        </p:nvSpPr>
        <p:spPr>
          <a:xfrm>
            <a:off x="7936756" y="1717964"/>
            <a:ext cx="2008875" cy="694403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SpeedAnalysisStream</a:t>
            </a:r>
            <a:endParaRPr lang="it-IT" sz="1400" dirty="0"/>
          </a:p>
        </p:txBody>
      </p:sp>
      <p:sp>
        <p:nvSpPr>
          <p:cNvPr id="6" name="Rectangle: Rounded Corners 67">
            <a:extLst>
              <a:ext uri="{FF2B5EF4-FFF2-40B4-BE49-F238E27FC236}">
                <a16:creationId xmlns:a16="http://schemas.microsoft.com/office/drawing/2014/main" id="{E5BD9C50-E21B-F3DD-F62F-73FE40C0320C}"/>
              </a:ext>
            </a:extLst>
          </p:cNvPr>
          <p:cNvSpPr/>
          <p:nvPr/>
        </p:nvSpPr>
        <p:spPr>
          <a:xfrm>
            <a:off x="9623059" y="4048599"/>
            <a:ext cx="2008875" cy="694403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MaintenanceAlerter</a:t>
            </a:r>
            <a:endParaRPr lang="it-IT" sz="1400" dirty="0"/>
          </a:p>
        </p:txBody>
      </p:sp>
      <p:sp>
        <p:nvSpPr>
          <p:cNvPr id="7" name="Rectangle: Rounded Corners 67">
            <a:extLst>
              <a:ext uri="{FF2B5EF4-FFF2-40B4-BE49-F238E27FC236}">
                <a16:creationId xmlns:a16="http://schemas.microsoft.com/office/drawing/2014/main" id="{591A3F80-1A29-B9AF-3397-43064B2BEBAB}"/>
              </a:ext>
            </a:extLst>
          </p:cNvPr>
          <p:cNvSpPr/>
          <p:nvPr/>
        </p:nvSpPr>
        <p:spPr>
          <a:xfrm>
            <a:off x="7343322" y="5485507"/>
            <a:ext cx="2188985" cy="694403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cs typeface="+mn-lt"/>
              </a:rPr>
              <a:t>TrainConsumerDashboard</a:t>
            </a:r>
            <a:endParaRPr lang="it-IT" sz="14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6B4BE91-1330-C040-5F45-13D41D03B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545" y="2790276"/>
            <a:ext cx="786907" cy="1277447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A9771B6-A623-64D4-C552-7BA1164D75F8}"/>
              </a:ext>
            </a:extLst>
          </p:cNvPr>
          <p:cNvSpPr txBox="1"/>
          <p:nvPr/>
        </p:nvSpPr>
        <p:spPr>
          <a:xfrm>
            <a:off x="5303307" y="4053516"/>
            <a:ext cx="158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 err="1"/>
              <a:t>train</a:t>
            </a:r>
            <a:r>
              <a:rPr lang="it-IT" sz="1800" dirty="0"/>
              <a:t>-locations</a:t>
            </a:r>
            <a:endParaRPr lang="it-IT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D898F8CF-4828-0BDD-5D1A-7C646ED77FAA}"/>
              </a:ext>
            </a:extLst>
          </p:cNvPr>
          <p:cNvCxnSpPr>
            <a:stCxn id="2" idx="3"/>
            <a:endCxn id="10" idx="1"/>
          </p:cNvCxnSpPr>
          <p:nvPr/>
        </p:nvCxnSpPr>
        <p:spPr>
          <a:xfrm>
            <a:off x="3297949" y="3428999"/>
            <a:ext cx="2404596" cy="1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9C7DB5C2-7F18-4F49-6841-5EF8F9D551CC}"/>
              </a:ext>
            </a:extLst>
          </p:cNvPr>
          <p:cNvCxnSpPr>
            <a:stCxn id="10" idx="3"/>
            <a:endCxn id="3" idx="1"/>
          </p:cNvCxnSpPr>
          <p:nvPr/>
        </p:nvCxnSpPr>
        <p:spPr>
          <a:xfrm flipV="1">
            <a:off x="6489452" y="2065166"/>
            <a:ext cx="1447304" cy="1363834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6839C0B-E5B0-CD3D-7C14-2A5750463B2D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>
            <a:off x="6489452" y="3429000"/>
            <a:ext cx="3133607" cy="966801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7AE8BAD-1275-E9A7-83CC-38FBD16DE2CC}"/>
              </a:ext>
            </a:extLst>
          </p:cNvPr>
          <p:cNvCxnSpPr>
            <a:cxnSpLocks/>
            <a:stCxn id="10" idx="3"/>
            <a:endCxn id="7" idx="0"/>
          </p:cNvCxnSpPr>
          <p:nvPr/>
        </p:nvCxnSpPr>
        <p:spPr>
          <a:xfrm>
            <a:off x="6489452" y="3429000"/>
            <a:ext cx="1948363" cy="2056507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7F2A045D-E5B7-94A9-570A-B5192869F14A}"/>
              </a:ext>
            </a:extLst>
          </p:cNvPr>
          <p:cNvCxnSpPr>
            <a:stCxn id="3" idx="3"/>
          </p:cNvCxnSpPr>
          <p:nvPr/>
        </p:nvCxnSpPr>
        <p:spPr>
          <a:xfrm flipV="1">
            <a:off x="9945631" y="2041742"/>
            <a:ext cx="1114851" cy="23424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63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CE35-62C8-C38D-5B8D-0B5268C4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3F8C5424-38A7-69D7-F230-D0AFB8AEA9DB}"/>
              </a:ext>
            </a:extLst>
          </p:cNvPr>
          <p:cNvSpPr txBox="1">
            <a:spLocks/>
          </p:cNvSpPr>
          <p:nvPr/>
        </p:nvSpPr>
        <p:spPr bwMode="auto">
          <a:xfrm>
            <a:off x="2118148" y="354132"/>
            <a:ext cx="7955703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 fontScale="6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Our Workshop Architecture: topic </a:t>
            </a:r>
            <a:r>
              <a:rPr lang="en-US" sz="4000" b="1" dirty="0">
                <a:cs typeface="+mn-lt"/>
              </a:rPr>
              <a:t>train-speed-averages</a:t>
            </a:r>
            <a:r>
              <a:rPr lang="it-IT" sz="3700" b="1" dirty="0"/>
              <a:t>🏗️</a:t>
            </a:r>
          </a:p>
        </p:txBody>
      </p:sp>
      <p:sp>
        <p:nvSpPr>
          <p:cNvPr id="3" name="Rectangle: Rounded Corners 67">
            <a:extLst>
              <a:ext uri="{FF2B5EF4-FFF2-40B4-BE49-F238E27FC236}">
                <a16:creationId xmlns:a16="http://schemas.microsoft.com/office/drawing/2014/main" id="{2AA61AE2-10AE-175A-EA75-4DEDB46D12B4}"/>
              </a:ext>
            </a:extLst>
          </p:cNvPr>
          <p:cNvSpPr/>
          <p:nvPr/>
        </p:nvSpPr>
        <p:spPr>
          <a:xfrm>
            <a:off x="3212656" y="1694539"/>
            <a:ext cx="2008875" cy="694403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SpeedAnalysisStream</a:t>
            </a:r>
            <a:endParaRPr lang="it-IT" sz="14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CF6B25F-8606-94B6-4BA9-96DD48CDA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29" y="1403018"/>
            <a:ext cx="786907" cy="1277447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3A0EEC5-149F-D6E3-72DA-3C1799D48BD3}"/>
              </a:ext>
            </a:extLst>
          </p:cNvPr>
          <p:cNvSpPr txBox="1"/>
          <p:nvPr/>
        </p:nvSpPr>
        <p:spPr>
          <a:xfrm>
            <a:off x="532766" y="2680465"/>
            <a:ext cx="158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 err="1"/>
              <a:t>train</a:t>
            </a:r>
            <a:r>
              <a:rPr lang="it-IT" sz="1800" dirty="0"/>
              <a:t>-locations</a:t>
            </a:r>
            <a:endParaRPr lang="it-IT" dirty="0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1D36696-C33D-4C37-8077-3914D2DB1D39}"/>
              </a:ext>
            </a:extLst>
          </p:cNvPr>
          <p:cNvCxnSpPr>
            <a:stCxn id="10" idx="3"/>
            <a:endCxn id="3" idx="1"/>
          </p:cNvCxnSpPr>
          <p:nvPr/>
        </p:nvCxnSpPr>
        <p:spPr>
          <a:xfrm flipV="1">
            <a:off x="1717036" y="2041741"/>
            <a:ext cx="1495620" cy="1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Immagine 13">
            <a:extLst>
              <a:ext uri="{FF2B5EF4-FFF2-40B4-BE49-F238E27FC236}">
                <a16:creationId xmlns:a16="http://schemas.microsoft.com/office/drawing/2014/main" id="{32D0EA5C-0EB3-85B0-EAFF-8AF317077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637" y="3425136"/>
            <a:ext cx="786907" cy="1277447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A448D37-62C3-6149-5EA6-FFF57B51FC13}"/>
              </a:ext>
            </a:extLst>
          </p:cNvPr>
          <p:cNvSpPr txBox="1"/>
          <p:nvPr/>
        </p:nvSpPr>
        <p:spPr>
          <a:xfrm>
            <a:off x="4908027" y="4702583"/>
            <a:ext cx="2368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 err="1"/>
              <a:t>train</a:t>
            </a:r>
            <a:r>
              <a:rPr lang="it-IT" sz="1800" dirty="0"/>
              <a:t>-speed-</a:t>
            </a:r>
            <a:r>
              <a:rPr lang="it-IT" sz="1800" dirty="0" err="1"/>
              <a:t>averages</a:t>
            </a:r>
            <a:endParaRPr lang="it-IT" dirty="0"/>
          </a:p>
        </p:txBody>
      </p:sp>
      <p:sp>
        <p:nvSpPr>
          <p:cNvPr id="20" name="Rectangle: Rounded Corners 67">
            <a:extLst>
              <a:ext uri="{FF2B5EF4-FFF2-40B4-BE49-F238E27FC236}">
                <a16:creationId xmlns:a16="http://schemas.microsoft.com/office/drawing/2014/main" id="{6CCBCCC9-6866-8E44-1152-D03CA475D445}"/>
              </a:ext>
            </a:extLst>
          </p:cNvPr>
          <p:cNvSpPr/>
          <p:nvPr/>
        </p:nvSpPr>
        <p:spPr>
          <a:xfrm>
            <a:off x="8738722" y="3716657"/>
            <a:ext cx="2008875" cy="694403"/>
          </a:xfrm>
          <a:prstGeom prst="roundRect">
            <a:avLst/>
          </a:prstGeom>
          <a:solidFill>
            <a:srgbClr val="A70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TrainWebsocket</a:t>
            </a:r>
            <a:endParaRPr lang="it-IT" sz="1400" dirty="0"/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BD4FF8BD-E800-5789-5F24-2D668035B984}"/>
              </a:ext>
            </a:extLst>
          </p:cNvPr>
          <p:cNvCxnSpPr>
            <a:stCxn id="3" idx="2"/>
            <a:endCxn id="14" idx="1"/>
          </p:cNvCxnSpPr>
          <p:nvPr/>
        </p:nvCxnSpPr>
        <p:spPr>
          <a:xfrm>
            <a:off x="4217094" y="2388942"/>
            <a:ext cx="1481543" cy="1674918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FC123F48-F4C4-BC14-004D-6C20F7C65FB3}"/>
              </a:ext>
            </a:extLst>
          </p:cNvPr>
          <p:cNvCxnSpPr>
            <a:stCxn id="14" idx="3"/>
            <a:endCxn id="20" idx="1"/>
          </p:cNvCxnSpPr>
          <p:nvPr/>
        </p:nvCxnSpPr>
        <p:spPr>
          <a:xfrm flipV="1">
            <a:off x="6485544" y="4063859"/>
            <a:ext cx="2253178" cy="1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20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C8DD-FAF0-CA7B-0AD5-76398477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EB90A6CC-6CE7-429E-4930-44368760D4B5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Kafka is Language Agnostic </a:t>
            </a:r>
            <a:r>
              <a:rPr lang="it-IT" sz="3700" b="1" dirty="0"/>
              <a:t>🌐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7958F-6863-3DDF-23F3-58704C37AFEF}"/>
              </a:ext>
            </a:extLst>
          </p:cNvPr>
          <p:cNvSpPr txBox="1"/>
          <p:nvPr/>
        </p:nvSpPr>
        <p:spPr>
          <a:xfrm>
            <a:off x="2403629" y="1273812"/>
            <a:ext cx="978837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Any language can produce/consume from Kafka:</a:t>
            </a:r>
          </a:p>
          <a:p>
            <a:r>
              <a:rPr lang="en-US" b="1" dirty="0"/>
              <a:t> </a:t>
            </a:r>
            <a:endParaRPr lang="en-US" dirty="0"/>
          </a:p>
          <a:p>
            <a:r>
              <a:rPr lang="it-IT" dirty="0"/>
              <a:t>☕ </a:t>
            </a:r>
            <a:r>
              <a:rPr lang="en-US" dirty="0"/>
              <a:t>Java (most common, best support)</a:t>
            </a:r>
          </a:p>
          <a:p>
            <a:r>
              <a:rPr lang="it-IT" dirty="0"/>
              <a:t>🐍 Python</a:t>
            </a:r>
          </a:p>
          <a:p>
            <a:r>
              <a:rPr lang="it-IT" dirty="0"/>
              <a:t>🟨 JavaScript/Node.js </a:t>
            </a:r>
          </a:p>
          <a:p>
            <a:r>
              <a:rPr lang="it-IT" dirty="0"/>
              <a:t>🔵 Go </a:t>
            </a:r>
          </a:p>
          <a:p>
            <a:r>
              <a:rPr lang="it-IT" dirty="0"/>
              <a:t>🟣 C#/.NET</a:t>
            </a:r>
          </a:p>
          <a:p>
            <a:r>
              <a:rPr lang="it-IT" dirty="0"/>
              <a:t>And many more...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01013-B50B-34B7-C265-3615AC87898C}"/>
              </a:ext>
            </a:extLst>
          </p:cNvPr>
          <p:cNvSpPr txBox="1"/>
          <p:nvPr/>
        </p:nvSpPr>
        <p:spPr>
          <a:xfrm>
            <a:off x="2405153" y="4156211"/>
            <a:ext cx="586046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Workshop Demonstration:</a:t>
            </a:r>
            <a:endParaRPr lang="it-IT" dirty="0"/>
          </a:p>
          <a:p>
            <a:endParaRPr lang="en-US" dirty="0"/>
          </a:p>
          <a:p>
            <a:r>
              <a:rPr lang="it-IT" dirty="0"/>
              <a:t>✅ Java producers and consumers </a:t>
            </a:r>
            <a:endParaRPr lang="en-US" dirty="0"/>
          </a:p>
          <a:p>
            <a:endParaRPr lang="en-US" dirty="0"/>
          </a:p>
          <a:p>
            <a:r>
              <a:rPr lang="it-IT" dirty="0"/>
              <a:t>✅ Python consumer (maintenance alerter)</a:t>
            </a:r>
          </a:p>
          <a:p>
            <a:endParaRPr lang="it-IT" dirty="0"/>
          </a:p>
          <a:p>
            <a:r>
              <a:rPr lang="it-IT" dirty="0"/>
              <a:t>✅ Both read from the </a:t>
            </a:r>
            <a:r>
              <a:rPr lang="it-IT" b="1" dirty="0"/>
              <a:t>same topic </a:t>
            </a:r>
            <a:r>
              <a:rPr lang="it-IT" dirty="0"/>
              <a:t>seamlessly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63725-899C-E14F-044E-E9BBFB7DA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18EADEE2-3B9A-F38B-51CC-3F4697986417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Kafka Streams </a:t>
            </a:r>
            <a:r>
              <a:rPr lang="it-IT" sz="3700" dirty="0"/>
              <a:t>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FD182-02BC-33FE-E421-D34FFC64C2B0}"/>
              </a:ext>
            </a:extLst>
          </p:cNvPr>
          <p:cNvSpPr txBox="1"/>
          <p:nvPr/>
        </p:nvSpPr>
        <p:spPr>
          <a:xfrm>
            <a:off x="2403166" y="1499259"/>
            <a:ext cx="978837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Library </a:t>
            </a:r>
            <a:r>
              <a:rPr lang="en-US" dirty="0"/>
              <a:t>for building stream processing applications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Processes data </a:t>
            </a:r>
            <a:r>
              <a:rPr lang="en-US" b="1" dirty="0"/>
              <a:t>as it arrives </a:t>
            </a:r>
            <a:r>
              <a:rPr lang="en-US" dirty="0"/>
              <a:t>(real-time)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Supports transformations, aggregations, joins, windowing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separate cluster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endParaRPr lang="it-IT" b="1" dirty="0"/>
          </a:p>
          <a:p>
            <a:r>
              <a:rPr lang="it-IT" b="1" dirty="0" err="1"/>
              <a:t>Our</a:t>
            </a:r>
            <a:r>
              <a:rPr lang="it-IT" b="1" dirty="0"/>
              <a:t> Use Case:</a:t>
            </a:r>
          </a:p>
          <a:p>
            <a:endParaRPr lang="it-IT" dirty="0"/>
          </a:p>
          <a:p>
            <a:pPr marL="342900" indent="-342900">
              <a:buAutoNum type="arabicPeriod"/>
            </a:pPr>
            <a:r>
              <a:rPr lang="it-IT" dirty="0"/>
              <a:t>Read from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train-locations</a:t>
            </a:r>
            <a:r>
              <a:rPr lang="it-IT" dirty="0"/>
              <a:t> </a:t>
            </a:r>
          </a:p>
          <a:p>
            <a:pPr marL="342900" indent="-342900">
              <a:buAutoNum type="arabicPeriod"/>
            </a:pPr>
            <a:endParaRPr lang="it-IT" dirty="0"/>
          </a:p>
          <a:p>
            <a:pPr marL="342900" indent="-342900">
              <a:buAutoNum type="arabicPeriod"/>
            </a:pPr>
            <a:r>
              <a:rPr lang="en-US" dirty="0"/>
              <a:t>Calculate average speed per train (10-second window)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it-IT" dirty="0"/>
              <a:t>Write to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train-speed-averages</a:t>
            </a:r>
          </a:p>
        </p:txBody>
      </p:sp>
    </p:spTree>
    <p:extLst>
      <p:ext uri="{BB962C8B-B14F-4D97-AF65-F5344CB8AC3E}">
        <p14:creationId xmlns:p14="http://schemas.microsoft.com/office/powerpoint/2010/main" val="84046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302F-5248-1E21-6A0A-486A3363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B2BD4571-CF75-AFF9-8562-38F589D6D48D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Kafka Monitoring Tools </a:t>
            </a:r>
            <a:r>
              <a:rPr lang="it-IT" sz="3700" b="1" dirty="0"/>
              <a:t>📊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B5093-7A64-E1E2-2C23-C5173AB38750}"/>
              </a:ext>
            </a:extLst>
          </p:cNvPr>
          <p:cNvSpPr txBox="1"/>
          <p:nvPr/>
        </p:nvSpPr>
        <p:spPr>
          <a:xfrm>
            <a:off x="1957669" y="1330059"/>
            <a:ext cx="97883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Command Line Tools:</a:t>
            </a:r>
            <a:r>
              <a:rPr lang="en-US" b="1" dirty="0"/>
              <a:t> </a:t>
            </a:r>
            <a:endParaRPr lang="en-US" dirty="0"/>
          </a:p>
        </p:txBody>
      </p:sp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43AEC31-C6D7-7927-9488-91B45C9F7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080" y="2091950"/>
            <a:ext cx="6531548" cy="15174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A34610-1D71-4E1C-F00E-36AAC5C14C52}"/>
              </a:ext>
            </a:extLst>
          </p:cNvPr>
          <p:cNvSpPr txBox="1"/>
          <p:nvPr/>
        </p:nvSpPr>
        <p:spPr>
          <a:xfrm>
            <a:off x="1957670" y="3853328"/>
            <a:ext cx="978837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Web Interface:</a:t>
            </a:r>
          </a:p>
          <a:p>
            <a:endParaRPr lang="it-IT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/>
              <a:t>Kafka UI </a:t>
            </a:r>
            <a:r>
              <a:rPr lang="it-IT" dirty="0"/>
              <a:t>(localhost:8099, </a:t>
            </a:r>
            <a:r>
              <a:rPr lang="it-IT" dirty="0" err="1"/>
              <a:t>shipped</a:t>
            </a:r>
            <a:r>
              <a:rPr lang="it-IT" dirty="0"/>
              <a:t> with </a:t>
            </a:r>
            <a:r>
              <a:rPr lang="it-IT" dirty="0" err="1"/>
              <a:t>our</a:t>
            </a:r>
            <a:r>
              <a:rPr lang="it-IT" dirty="0"/>
              <a:t> containers🎉)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it-IT" dirty="0"/>
              <a:t>Monitor topics, partitions, consumer groups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it-IT" dirty="0"/>
              <a:t>View messages in real-time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it-IT" dirty="0"/>
              <a:t>Track consumer lag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 err="1"/>
              <a:t>RedPanda</a:t>
            </a:r>
            <a:endParaRPr lang="it-IT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… and </a:t>
            </a:r>
            <a:r>
              <a:rPr lang="it-IT" dirty="0" err="1"/>
              <a:t>many</a:t>
            </a:r>
            <a:r>
              <a:rPr lang="it-IT" dirty="0"/>
              <a:t> more!</a:t>
            </a:r>
          </a:p>
        </p:txBody>
      </p:sp>
    </p:spTree>
    <p:extLst>
      <p:ext uri="{BB962C8B-B14F-4D97-AF65-F5344CB8AC3E}">
        <p14:creationId xmlns:p14="http://schemas.microsoft.com/office/powerpoint/2010/main" val="398514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FFA5-2E55-7A84-43E5-E94C95098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DA55204D-5DC9-48AD-4462-2347E0279EC6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Common Patterns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C9145-F16E-C398-542F-BE5660A09DD0}"/>
              </a:ext>
            </a:extLst>
          </p:cNvPr>
          <p:cNvSpPr txBox="1"/>
          <p:nvPr/>
        </p:nvSpPr>
        <p:spPr>
          <a:xfrm>
            <a:off x="1200290" y="1720840"/>
            <a:ext cx="978837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Event Sourcing</a:t>
            </a:r>
          </a:p>
          <a:p>
            <a:r>
              <a:rPr lang="en-US" dirty="0"/>
              <a:t>🧾 Store every change to application state as an immutable sequence of events.</a:t>
            </a:r>
          </a:p>
          <a:p>
            <a:endParaRPr lang="en-US" dirty="0"/>
          </a:p>
          <a:p>
            <a:r>
              <a:rPr lang="en-US" dirty="0"/>
              <a:t>🧩 Kafka acts as the </a:t>
            </a:r>
            <a:r>
              <a:rPr lang="en-US" b="1" dirty="0"/>
              <a:t>event log</a:t>
            </a:r>
            <a:r>
              <a:rPr lang="en-US" dirty="0"/>
              <a:t> — a single source of truth.</a:t>
            </a:r>
          </a:p>
          <a:p>
            <a:endParaRPr lang="en-US" dirty="0"/>
          </a:p>
          <a:p>
            <a:r>
              <a:rPr lang="en-US" dirty="0"/>
              <a:t>⏳ Enables </a:t>
            </a:r>
            <a:r>
              <a:rPr lang="en-US" b="1" dirty="0"/>
              <a:t>time-travel debugging</a:t>
            </a:r>
            <a:r>
              <a:rPr lang="en-US" dirty="0"/>
              <a:t>, replay, and rebuilding state at any point.</a:t>
            </a:r>
          </a:p>
          <a:p>
            <a:endParaRPr lang="en-US" dirty="0"/>
          </a:p>
          <a:p>
            <a:endParaRPr lang="en-US" dirty="0"/>
          </a:p>
          <a:p>
            <a:r>
              <a:rPr lang="it-IT" b="1" dirty="0"/>
              <a:t>CQRS (</a:t>
            </a:r>
            <a:r>
              <a:rPr lang="it-IT" b="1" dirty="0" err="1"/>
              <a:t>Command</a:t>
            </a:r>
            <a:r>
              <a:rPr lang="it-IT" b="1" dirty="0"/>
              <a:t> Query </a:t>
            </a:r>
            <a:r>
              <a:rPr lang="it-IT" b="1" dirty="0" err="1"/>
              <a:t>Responsibility</a:t>
            </a:r>
            <a:r>
              <a:rPr lang="it-IT" b="1" dirty="0"/>
              <a:t> </a:t>
            </a:r>
            <a:r>
              <a:rPr lang="it-IT" b="1" dirty="0" err="1"/>
              <a:t>Segregation</a:t>
            </a:r>
            <a:r>
              <a:rPr lang="it-IT" b="1" dirty="0"/>
              <a:t>)</a:t>
            </a:r>
          </a:p>
          <a:p>
            <a:r>
              <a:rPr lang="it-IT" dirty="0"/>
              <a:t>✍️ Separate </a:t>
            </a:r>
            <a:r>
              <a:rPr lang="it-IT" b="1" dirty="0" err="1"/>
              <a:t>commands</a:t>
            </a:r>
            <a:r>
              <a:rPr lang="it-IT" b="1" dirty="0"/>
              <a:t> (</a:t>
            </a:r>
            <a:r>
              <a:rPr lang="it-IT" b="1" dirty="0" err="1"/>
              <a:t>writes</a:t>
            </a:r>
            <a:r>
              <a:rPr lang="it-IT" b="1" dirty="0"/>
              <a:t>)</a:t>
            </a:r>
            <a:r>
              <a:rPr lang="it-IT" dirty="0"/>
              <a:t> from </a:t>
            </a:r>
            <a:r>
              <a:rPr lang="it-IT" b="1" dirty="0"/>
              <a:t>queries (</a:t>
            </a:r>
            <a:r>
              <a:rPr lang="it-IT" b="1" dirty="0" err="1"/>
              <a:t>reads</a:t>
            </a:r>
            <a:r>
              <a:rPr lang="it-IT" b="1" dirty="0"/>
              <a:t>)</a:t>
            </a:r>
            <a:r>
              <a:rPr lang="it-IT" dirty="0"/>
              <a:t> for </a:t>
            </a:r>
            <a:r>
              <a:rPr lang="it-IT" dirty="0" err="1"/>
              <a:t>scalability</a:t>
            </a:r>
            <a:r>
              <a:rPr lang="it-IT" dirty="0"/>
              <a:t> and </a:t>
            </a:r>
            <a:r>
              <a:rPr lang="it-IT" dirty="0" err="1"/>
              <a:t>clarity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💡 Kafka Streams can </a:t>
            </a:r>
            <a:r>
              <a:rPr lang="it-IT" dirty="0" err="1"/>
              <a:t>manage</a:t>
            </a:r>
            <a:r>
              <a:rPr lang="it-IT" dirty="0"/>
              <a:t> the </a:t>
            </a:r>
            <a:r>
              <a:rPr lang="it-IT" b="1" dirty="0" err="1"/>
              <a:t>write</a:t>
            </a:r>
            <a:r>
              <a:rPr lang="it-IT" b="1" dirty="0"/>
              <a:t>-side events</a:t>
            </a:r>
            <a:r>
              <a:rPr lang="it-IT" dirty="0"/>
              <a:t>,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b="1" dirty="0" err="1"/>
              <a:t>materialized</a:t>
            </a:r>
            <a:r>
              <a:rPr lang="it-IT" b="1" dirty="0"/>
              <a:t> </a:t>
            </a:r>
            <a:r>
              <a:rPr lang="it-IT" b="1" dirty="0" err="1"/>
              <a:t>views</a:t>
            </a:r>
            <a:r>
              <a:rPr lang="it-IT" dirty="0"/>
              <a:t> serve </a:t>
            </a:r>
            <a:r>
              <a:rPr lang="it-IT" dirty="0" err="1"/>
              <a:t>reads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⚖️ Perfect for systems with </a:t>
            </a:r>
            <a:r>
              <a:rPr lang="it-IT" b="1" dirty="0" err="1"/>
              <a:t>uneven</a:t>
            </a:r>
            <a:r>
              <a:rPr lang="it-IT" b="1" dirty="0"/>
              <a:t> </a:t>
            </a:r>
            <a:r>
              <a:rPr lang="it-IT" b="1" dirty="0" err="1"/>
              <a:t>read</a:t>
            </a:r>
            <a:r>
              <a:rPr lang="it-IT" b="1" dirty="0"/>
              <a:t>/</a:t>
            </a:r>
            <a:r>
              <a:rPr lang="it-IT" b="1" dirty="0" err="1"/>
              <a:t>write</a:t>
            </a:r>
            <a:r>
              <a:rPr lang="it-IT" b="1" dirty="0"/>
              <a:t> loads</a:t>
            </a:r>
            <a:r>
              <a:rPr lang="it-IT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56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CDBF-7B0D-62F3-2A03-639A0548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5926D57A-F760-0486-1348-73E68CED402C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Common Patterns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EDD6C-9520-05E8-68AF-3BFEC75F5C5A}"/>
              </a:ext>
            </a:extLst>
          </p:cNvPr>
          <p:cNvSpPr txBox="1"/>
          <p:nvPr/>
        </p:nvSpPr>
        <p:spPr>
          <a:xfrm>
            <a:off x="1200290" y="1759302"/>
            <a:ext cx="978837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Data Pipelines</a:t>
            </a:r>
          </a:p>
          <a:p>
            <a:r>
              <a:rPr lang="it-IT" dirty="0"/>
              <a:t>🔗 Kafka </a:t>
            </a:r>
            <a:r>
              <a:rPr lang="it-IT" dirty="0" err="1"/>
              <a:t>connects</a:t>
            </a:r>
            <a:r>
              <a:rPr lang="it-IT" dirty="0"/>
              <a:t> </a:t>
            </a:r>
            <a:r>
              <a:rPr lang="it-IT" b="1" dirty="0"/>
              <a:t>producers and consumers</a:t>
            </a:r>
            <a:r>
              <a:rPr lang="it-IT" dirty="0"/>
              <a:t> in real-time data flow.</a:t>
            </a:r>
          </a:p>
          <a:p>
            <a:endParaRPr lang="it-IT" dirty="0"/>
          </a:p>
          <a:p>
            <a:r>
              <a:rPr lang="it-IT" dirty="0"/>
              <a:t>⚙️ </a:t>
            </a:r>
            <a:r>
              <a:rPr lang="it-IT" dirty="0" err="1"/>
              <a:t>Simplifies</a:t>
            </a:r>
            <a:r>
              <a:rPr lang="it-IT" dirty="0"/>
              <a:t> ETL: </a:t>
            </a:r>
            <a:r>
              <a:rPr lang="it-IT" b="1" dirty="0" err="1"/>
              <a:t>ingest</a:t>
            </a:r>
            <a:r>
              <a:rPr lang="it-IT" b="1" dirty="0"/>
              <a:t> → </a:t>
            </a:r>
            <a:r>
              <a:rPr lang="it-IT" b="1" dirty="0" err="1"/>
              <a:t>process</a:t>
            </a:r>
            <a:r>
              <a:rPr lang="it-IT" b="1" dirty="0"/>
              <a:t> → </a:t>
            </a:r>
            <a:r>
              <a:rPr lang="it-IT" b="1" dirty="0" err="1"/>
              <a:t>distribute</a:t>
            </a:r>
            <a:r>
              <a:rPr lang="it-IT" dirty="0"/>
              <a:t>, no batch delays.</a:t>
            </a:r>
          </a:p>
          <a:p>
            <a:endParaRPr lang="it-IT" dirty="0"/>
          </a:p>
          <a:p>
            <a:r>
              <a:rPr lang="it-IT" dirty="0"/>
              <a:t>📊 Powers </a:t>
            </a:r>
            <a:r>
              <a:rPr lang="it-IT" b="1" dirty="0"/>
              <a:t>streaming </a:t>
            </a:r>
            <a:r>
              <a:rPr lang="it-IT" b="1" dirty="0" err="1"/>
              <a:t>analytics</a:t>
            </a:r>
            <a:r>
              <a:rPr lang="it-IT" dirty="0"/>
              <a:t> and long-</a:t>
            </a:r>
            <a:r>
              <a:rPr lang="it-IT" dirty="0" err="1"/>
              <a:t>term</a:t>
            </a:r>
            <a:r>
              <a:rPr lang="it-IT" dirty="0"/>
              <a:t> data storage.</a:t>
            </a:r>
            <a:br>
              <a:rPr lang="it-IT" dirty="0"/>
            </a:br>
            <a:endParaRPr lang="it-IT" dirty="0"/>
          </a:p>
          <a:p>
            <a:endParaRPr lang="it-IT" dirty="0"/>
          </a:p>
          <a:p>
            <a:r>
              <a:rPr lang="it-IT" b="1" dirty="0" err="1"/>
              <a:t>Microservices</a:t>
            </a:r>
            <a:r>
              <a:rPr lang="it-IT" b="1" dirty="0"/>
              <a:t> </a:t>
            </a:r>
            <a:r>
              <a:rPr lang="it-IT" b="1" dirty="0" err="1"/>
              <a:t>Communication</a:t>
            </a:r>
            <a:endParaRPr lang="it-IT" b="1" dirty="0"/>
          </a:p>
          <a:p>
            <a:r>
              <a:rPr lang="it-IT" dirty="0"/>
              <a:t>📨 Kafka </a:t>
            </a:r>
            <a:r>
              <a:rPr lang="it-IT" dirty="0" err="1"/>
              <a:t>decouples</a:t>
            </a:r>
            <a:r>
              <a:rPr lang="it-IT" dirty="0"/>
              <a:t> services with </a:t>
            </a:r>
            <a:r>
              <a:rPr lang="it-IT" b="1" dirty="0" err="1"/>
              <a:t>asynchronous</a:t>
            </a:r>
            <a:r>
              <a:rPr lang="it-IT" b="1" dirty="0"/>
              <a:t>, event-</a:t>
            </a:r>
            <a:r>
              <a:rPr lang="it-IT" b="1" dirty="0" err="1"/>
              <a:t>driven</a:t>
            </a:r>
            <a:r>
              <a:rPr lang="it-IT" dirty="0"/>
              <a:t> messaging.</a:t>
            </a:r>
          </a:p>
          <a:p>
            <a:endParaRPr lang="it-IT" dirty="0"/>
          </a:p>
          <a:p>
            <a:r>
              <a:rPr lang="it-IT" dirty="0"/>
              <a:t>🧠 </a:t>
            </a:r>
            <a:r>
              <a:rPr lang="it-IT" dirty="0" err="1"/>
              <a:t>Reduces</a:t>
            </a:r>
            <a:r>
              <a:rPr lang="it-IT" dirty="0"/>
              <a:t> </a:t>
            </a:r>
            <a:r>
              <a:rPr lang="it-IT" dirty="0" err="1"/>
              <a:t>reliance</a:t>
            </a:r>
            <a:r>
              <a:rPr lang="it-IT" dirty="0"/>
              <a:t> on REST calls, </a:t>
            </a:r>
            <a:r>
              <a:rPr lang="it-IT" dirty="0" err="1"/>
              <a:t>improving</a:t>
            </a:r>
            <a:r>
              <a:rPr lang="it-IT" dirty="0"/>
              <a:t> </a:t>
            </a:r>
            <a:r>
              <a:rPr lang="it-IT" b="1" dirty="0" err="1"/>
              <a:t>resilience</a:t>
            </a:r>
            <a:r>
              <a:rPr lang="it-IT" dirty="0"/>
              <a:t> and </a:t>
            </a:r>
            <a:r>
              <a:rPr lang="it-IT" b="1" dirty="0"/>
              <a:t>fault </a:t>
            </a:r>
            <a:r>
              <a:rPr lang="it-IT" b="1" dirty="0" err="1"/>
              <a:t>tolerance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🌱 </a:t>
            </a:r>
            <a:r>
              <a:rPr lang="it-IT" dirty="0" err="1"/>
              <a:t>Promotes</a:t>
            </a:r>
            <a:r>
              <a:rPr lang="it-IT" dirty="0"/>
              <a:t> </a:t>
            </a:r>
            <a:r>
              <a:rPr lang="it-IT" b="1" dirty="0" err="1"/>
              <a:t>loose</a:t>
            </a:r>
            <a:r>
              <a:rPr lang="it-IT" b="1" dirty="0"/>
              <a:t> </a:t>
            </a:r>
            <a:r>
              <a:rPr lang="it-IT" b="1" dirty="0" err="1"/>
              <a:t>coupling</a:t>
            </a:r>
            <a:r>
              <a:rPr lang="it-IT" dirty="0"/>
              <a:t> and </a:t>
            </a:r>
            <a:r>
              <a:rPr lang="it-IT" b="1" dirty="0" err="1"/>
              <a:t>scalable</a:t>
            </a:r>
            <a:r>
              <a:rPr lang="it-IT" dirty="0"/>
              <a:t> </a:t>
            </a:r>
            <a:r>
              <a:rPr lang="it-IT" dirty="0" err="1"/>
              <a:t>architecture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43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3C70-1276-EB0A-761C-4217CBB4C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50837795-58A0-A177-5179-3D3AC84479E4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Production Best Practices </a:t>
            </a:r>
            <a:r>
              <a:rPr lang="it-IT" sz="3700" b="1" dirty="0"/>
              <a:t>🎯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EAA37-2EEB-6452-C1D1-39E0E2A62BD5}"/>
              </a:ext>
            </a:extLst>
          </p:cNvPr>
          <p:cNvSpPr txBox="1"/>
          <p:nvPr/>
        </p:nvSpPr>
        <p:spPr>
          <a:xfrm>
            <a:off x="1412768" y="1305341"/>
            <a:ext cx="996726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Design: </a:t>
            </a:r>
            <a:endParaRPr lang="it-IT" dirty="0"/>
          </a:p>
          <a:p>
            <a:r>
              <a:rPr lang="it-IT" dirty="0"/>
              <a:t>📦 </a:t>
            </a:r>
            <a:r>
              <a:rPr lang="en-US" dirty="0"/>
              <a:t>Use shared libraries for data models (avoid duplication) </a:t>
            </a:r>
          </a:p>
          <a:p>
            <a:r>
              <a:rPr lang="en-US" dirty="0"/>
              <a:t>🗄️ Schema Registry for data contracts (Avro, JSON Schema) </a:t>
            </a:r>
          </a:p>
          <a:p>
            <a:pPr lvl="2"/>
            <a:r>
              <a:rPr lang="it-IT" dirty="0"/>
              <a:t>📌</a:t>
            </a:r>
            <a:r>
              <a:rPr lang="en-US" dirty="0"/>
              <a:t>Check </a:t>
            </a:r>
            <a:r>
              <a:rPr lang="en-US" dirty="0" err="1"/>
              <a:t>avro</a:t>
            </a:r>
            <a:r>
              <a:rPr lang="en-US" dirty="0"/>
              <a:t> services in the repository for more! </a:t>
            </a:r>
          </a:p>
          <a:p>
            <a:r>
              <a:rPr lang="it-IT" dirty="0"/>
              <a:t>🔄 Version your message formats </a:t>
            </a:r>
          </a:p>
          <a:p>
            <a:r>
              <a:rPr lang="it-IT" dirty="0"/>
              <a:t>🎯 </a:t>
            </a:r>
            <a:r>
              <a:rPr lang="en-US" dirty="0"/>
              <a:t>Use message keys for partitioning logic (same key = same partition)</a:t>
            </a:r>
          </a:p>
          <a:p>
            <a:r>
              <a:rPr lang="it-IT" dirty="0"/>
              <a:t>⚡ </a:t>
            </a:r>
            <a:r>
              <a:rPr lang="it-IT" dirty="0" err="1"/>
              <a:t>Configure</a:t>
            </a:r>
            <a:r>
              <a:rPr lang="it-IT" dirty="0"/>
              <a:t> appropriate retention policies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dirty="0" err="1"/>
              <a:t>Execution</a:t>
            </a:r>
            <a:r>
              <a:rPr lang="it-IT" b="1" dirty="0"/>
              <a:t>: </a:t>
            </a:r>
            <a:endParaRPr lang="it-IT" dirty="0"/>
          </a:p>
          <a:p>
            <a:r>
              <a:rPr lang="it-IT" dirty="0"/>
              <a:t>📊 Monitor consumer lag </a:t>
            </a:r>
          </a:p>
          <a:p>
            <a:r>
              <a:rPr lang="it-IT" dirty="0"/>
              <a:t>⚖️ </a:t>
            </a:r>
            <a:r>
              <a:rPr lang="it-IT" dirty="0" err="1"/>
              <a:t>Right</a:t>
            </a:r>
            <a:r>
              <a:rPr lang="it-IT" dirty="0"/>
              <a:t>-size </a:t>
            </a:r>
            <a:r>
              <a:rPr lang="it-IT" dirty="0" err="1"/>
              <a:t>partition</a:t>
            </a:r>
            <a:r>
              <a:rPr lang="it-IT" dirty="0"/>
              <a:t> count </a:t>
            </a:r>
          </a:p>
          <a:p>
            <a:r>
              <a:rPr lang="it-IT" dirty="0"/>
              <a:t>🔒 </a:t>
            </a:r>
            <a:r>
              <a:rPr lang="it-IT" dirty="0" err="1"/>
              <a:t>Enable</a:t>
            </a:r>
            <a:r>
              <a:rPr lang="it-IT" dirty="0"/>
              <a:t> authentication &amp; encryption (production)</a:t>
            </a:r>
          </a:p>
          <a:p>
            <a:r>
              <a:rPr lang="en-US" dirty="0"/>
              <a:t>💾 Configure replication factor</a:t>
            </a:r>
          </a:p>
          <a:p>
            <a:r>
              <a:rPr lang="en-US" dirty="0"/>
              <a:t>🧪 Test rebalancing scenarios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86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BA4F8-5581-D5D7-3E67-CED32A98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9EB7B1FE-4E6C-EB0F-34F2-1A93BC9C1CAF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Hands-On Time! </a:t>
            </a:r>
            <a:r>
              <a:rPr lang="it-IT" sz="3700" b="1" dirty="0"/>
              <a:t>🛠️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96566-74A6-9E3C-DAD7-FF5532DBFE1D}"/>
              </a:ext>
            </a:extLst>
          </p:cNvPr>
          <p:cNvSpPr txBox="1"/>
          <p:nvPr/>
        </p:nvSpPr>
        <p:spPr>
          <a:xfrm>
            <a:off x="1997535" y="1631189"/>
            <a:ext cx="996726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What You'll Do:</a:t>
            </a:r>
          </a:p>
          <a:p>
            <a:endParaRPr lang="it-IT" dirty="0"/>
          </a:p>
          <a:p>
            <a:pPr marL="342900" indent="-342900">
              <a:buFontTx/>
              <a:buAutoNum type="arabicPeriod"/>
            </a:pPr>
            <a:r>
              <a:rPr lang="it-IT" dirty="0"/>
              <a:t>✅ Set up Kafka infrastructure (Docker) </a:t>
            </a:r>
          </a:p>
          <a:p>
            <a:pPr marL="342900" indent="-342900">
              <a:buAutoNum type="arabicPeriod"/>
            </a:pPr>
            <a:r>
              <a:rPr lang="it-IT" dirty="0"/>
              <a:t>✅ </a:t>
            </a:r>
            <a:r>
              <a:rPr lang="en-US" dirty="0"/>
              <a:t>Start the train location producer </a:t>
            </a:r>
          </a:p>
          <a:p>
            <a:pPr marL="342900" indent="-342900">
              <a:buAutoNum type="arabicPeriod"/>
            </a:pPr>
            <a:r>
              <a:rPr lang="it-IT" dirty="0"/>
              <a:t>✅ </a:t>
            </a:r>
            <a:r>
              <a:rPr lang="it-IT" dirty="0" err="1"/>
              <a:t>Run</a:t>
            </a:r>
            <a:r>
              <a:rPr lang="it-IT" dirty="0"/>
              <a:t> the stream processor </a:t>
            </a:r>
          </a:p>
          <a:p>
            <a:pPr marL="342900" indent="-342900">
              <a:buAutoNum type="arabicPeriod"/>
            </a:pPr>
            <a:r>
              <a:rPr lang="it-IT" dirty="0"/>
              <a:t>✅ </a:t>
            </a:r>
            <a:r>
              <a:rPr lang="it-IT" dirty="0" err="1"/>
              <a:t>Launch</a:t>
            </a:r>
            <a:r>
              <a:rPr lang="it-IT" dirty="0"/>
              <a:t> the WebSocket dashboard </a:t>
            </a:r>
          </a:p>
          <a:p>
            <a:pPr marL="342900" indent="-342900">
              <a:buAutoNum type="arabicPeriod"/>
            </a:pPr>
            <a:r>
              <a:rPr lang="it-IT" dirty="0"/>
              <a:t>✅ </a:t>
            </a:r>
            <a:r>
              <a:rPr lang="it-IT" dirty="0" err="1"/>
              <a:t>Add</a:t>
            </a:r>
            <a:r>
              <a:rPr lang="it-IT" dirty="0"/>
              <a:t> Python maintenance alerter </a:t>
            </a:r>
          </a:p>
          <a:p>
            <a:pPr marL="342900" indent="-342900">
              <a:buAutoNum type="arabicPeriod"/>
            </a:pPr>
            <a:r>
              <a:rPr lang="it-IT" dirty="0"/>
              <a:t>✅ </a:t>
            </a:r>
            <a:r>
              <a:rPr lang="en-US" dirty="0"/>
              <a:t>Test partition rebalancing with scaling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dirty="0" err="1"/>
              <a:t>Prerequisites</a:t>
            </a:r>
            <a:r>
              <a:rPr lang="it-IT" b="1" dirty="0"/>
              <a:t> check:</a:t>
            </a:r>
            <a:endParaRPr lang="it-IT" dirty="0"/>
          </a:p>
          <a:p>
            <a:r>
              <a:rPr lang="it-IT" dirty="0"/>
              <a:t>🐳 Docker &amp; Docker Compose </a:t>
            </a:r>
          </a:p>
          <a:p>
            <a:endParaRPr lang="it-IT" dirty="0"/>
          </a:p>
          <a:p>
            <a:r>
              <a:rPr lang="it-IT" b="1" dirty="0" err="1"/>
              <a:t>If</a:t>
            </a:r>
            <a:r>
              <a:rPr lang="it-IT" b="1" dirty="0"/>
              <a:t> </a:t>
            </a:r>
            <a:r>
              <a:rPr lang="it-IT" b="1" dirty="0" err="1"/>
              <a:t>you</a:t>
            </a:r>
            <a:r>
              <a:rPr lang="it-IT" b="1" dirty="0"/>
              <a:t> </a:t>
            </a:r>
            <a:r>
              <a:rPr lang="it-IT" b="1" dirty="0" err="1"/>
              <a:t>want</a:t>
            </a:r>
            <a:r>
              <a:rPr lang="it-IT" b="1" dirty="0"/>
              <a:t> to build and </a:t>
            </a:r>
            <a:r>
              <a:rPr lang="it-IT" b="1" dirty="0" err="1"/>
              <a:t>run</a:t>
            </a:r>
            <a:r>
              <a:rPr lang="it-IT" b="1" dirty="0"/>
              <a:t> </a:t>
            </a:r>
            <a:r>
              <a:rPr lang="it-IT" b="1" dirty="0" err="1"/>
              <a:t>it</a:t>
            </a:r>
            <a:r>
              <a:rPr lang="it-IT" b="1" dirty="0"/>
              <a:t> </a:t>
            </a:r>
            <a:r>
              <a:rPr lang="it-IT" b="1" dirty="0" err="1"/>
              <a:t>yourself</a:t>
            </a:r>
            <a:r>
              <a:rPr lang="it-IT" b="1" dirty="0"/>
              <a:t>:</a:t>
            </a:r>
            <a:endParaRPr lang="it-IT" dirty="0"/>
          </a:p>
          <a:p>
            <a:r>
              <a:rPr lang="it-IT" dirty="0"/>
              <a:t>☕ Java JDK 17+ • 🔨 Maven • 🐍 Python 3.8+</a:t>
            </a:r>
          </a:p>
        </p:txBody>
      </p:sp>
    </p:spTree>
    <p:extLst>
      <p:ext uri="{BB962C8B-B14F-4D97-AF65-F5344CB8AC3E}">
        <p14:creationId xmlns:p14="http://schemas.microsoft.com/office/powerpoint/2010/main" val="255491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2B4AA-6880-4EB1-08CE-D56918237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3C49E219-D759-ECF6-A6B4-6FB7686A95C8}"/>
              </a:ext>
            </a:extLst>
          </p:cNvPr>
          <p:cNvSpPr txBox="1">
            <a:spLocks/>
          </p:cNvSpPr>
          <p:nvPr/>
        </p:nvSpPr>
        <p:spPr bwMode="auto">
          <a:xfrm>
            <a:off x="2583323" y="416697"/>
            <a:ext cx="7022305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Partition Rebalancing in Action </a:t>
            </a:r>
            <a:r>
              <a:rPr lang="it-IT" sz="3700" b="1" dirty="0"/>
              <a:t>⚖️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DC1DD-B712-9FDC-A789-B7ADEBE2017E}"/>
              </a:ext>
            </a:extLst>
          </p:cNvPr>
          <p:cNvSpPr txBox="1"/>
          <p:nvPr/>
        </p:nvSpPr>
        <p:spPr>
          <a:xfrm>
            <a:off x="2493816" y="1398958"/>
            <a:ext cx="85842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Live Scaling Demo:</a:t>
            </a: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E975207-5B86-0FC7-57FB-D7385B87C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875" y="1946030"/>
            <a:ext cx="6195202" cy="3450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CE5E3E-2BA9-22C7-AB53-9173E59CCE46}"/>
              </a:ext>
            </a:extLst>
          </p:cNvPr>
          <p:cNvSpPr txBox="1"/>
          <p:nvPr/>
        </p:nvSpPr>
        <p:spPr>
          <a:xfrm>
            <a:off x="2493818" y="5724770"/>
            <a:ext cx="85842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Watch: </a:t>
            </a:r>
            <a:r>
              <a:rPr lang="en-US" dirty="0"/>
              <a:t>Partition reassignment • Rebalancing events • Zero message loss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32480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6CA3-662B-AD9E-AC35-B895740E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E907F713-474B-B42C-0248-532EA2733ECD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Avoiding Common Mistakes </a:t>
            </a:r>
            <a:r>
              <a:rPr lang="it-IT" sz="3700" b="1" dirty="0"/>
              <a:t>⚠️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44C703-5063-00D7-DA96-501B3836A6DF}"/>
              </a:ext>
            </a:extLst>
          </p:cNvPr>
          <p:cNvSpPr txBox="1"/>
          <p:nvPr/>
        </p:nvSpPr>
        <p:spPr>
          <a:xfrm>
            <a:off x="1110844" y="1587622"/>
            <a:ext cx="996726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Top Issues:</a:t>
            </a:r>
          </a:p>
          <a:p>
            <a:r>
              <a:rPr lang="it-IT" b="1" dirty="0"/>
              <a:t> </a:t>
            </a: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🔌 </a:t>
            </a:r>
            <a:r>
              <a:rPr lang="en-US" b="1" dirty="0"/>
              <a:t>Connection refused: </a:t>
            </a:r>
            <a:r>
              <a:rPr lang="en-US" dirty="0"/>
              <a:t>Kafka not running →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docker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🔄 </a:t>
            </a:r>
            <a:r>
              <a:rPr lang="it-IT" b="1" dirty="0" err="1"/>
              <a:t>Deserialization</a:t>
            </a:r>
            <a:r>
              <a:rPr lang="it-IT" b="1" dirty="0"/>
              <a:t> errors: </a:t>
            </a:r>
            <a:r>
              <a:rPr lang="it-IT" dirty="0"/>
              <a:t>Mismatched serializers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📈 </a:t>
            </a:r>
            <a:r>
              <a:rPr lang="en-US" b="1" dirty="0"/>
              <a:t>Consumer lag: </a:t>
            </a:r>
            <a:r>
              <a:rPr lang="en-US" dirty="0"/>
              <a:t>Too few consumers for partition count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🔑 </a:t>
            </a:r>
            <a:r>
              <a:rPr lang="en-US" b="1" dirty="0"/>
              <a:t>Wrong consumer group: </a:t>
            </a:r>
            <a:r>
              <a:rPr lang="en-US" dirty="0"/>
              <a:t>Competing consumers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🕐 </a:t>
            </a:r>
            <a:r>
              <a:rPr lang="en-US" b="1" dirty="0"/>
              <a:t>Offset reset issues: </a:t>
            </a:r>
            <a:r>
              <a:rPr lang="en-US" dirty="0"/>
              <a:t>Check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auto.offset.reset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config</a:t>
            </a:r>
          </a:p>
          <a:p>
            <a:endParaRPr lang="it-IT" b="1" dirty="0"/>
          </a:p>
          <a:p>
            <a:endParaRPr lang="it-IT" b="1" dirty="0"/>
          </a:p>
          <a:p>
            <a:r>
              <a:rPr lang="it-IT" b="1" dirty="0"/>
              <a:t>Debug Commands:</a:t>
            </a:r>
            <a:r>
              <a:rPr lang="it-IT" dirty="0"/>
              <a:t> </a:t>
            </a: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A1197E2-ADC8-85CD-EACB-F49EF9C0F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030" y="4687421"/>
            <a:ext cx="6723939" cy="136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63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506C-3DA5-4D39-E4C9-BCBE5AB2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7610D0C0-0440-1E10-0188-0F4E69A39A2F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Continue Your Kafka Journey </a:t>
            </a:r>
            <a:r>
              <a:rPr lang="it-IT" sz="3700" b="1" dirty="0"/>
              <a:t>🚀</a:t>
            </a:r>
            <a:endParaRPr lang="it-IT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6694E-ACAF-36F0-2F49-83892B0F985D}"/>
              </a:ext>
            </a:extLst>
          </p:cNvPr>
          <p:cNvSpPr txBox="1"/>
          <p:nvPr/>
        </p:nvSpPr>
        <p:spPr>
          <a:xfrm>
            <a:off x="1440872" y="1600875"/>
            <a:ext cx="963723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Deep Dive Topics: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📊 </a:t>
            </a:r>
            <a:r>
              <a:rPr lang="en-US" dirty="0"/>
              <a:t>Advanced Kafka Streams (joins, state stores)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🔒 Security (SSL, SASL, ACLs)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🌍 Multi-datacenter replication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⚡ Performance tuning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🗄️ Schema evolution strategies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FB5CF6-F38A-E650-24F0-1842CBC0C129}"/>
              </a:ext>
            </a:extLst>
          </p:cNvPr>
          <p:cNvSpPr txBox="1"/>
          <p:nvPr/>
        </p:nvSpPr>
        <p:spPr>
          <a:xfrm>
            <a:off x="1440872" y="3894691"/>
            <a:ext cx="963723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Learning Resources: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📚 </a:t>
            </a:r>
            <a:r>
              <a:rPr lang="it-IT" dirty="0" err="1">
                <a:hlinkClick r:id="rId3"/>
              </a:rPr>
              <a:t>Confluent</a:t>
            </a:r>
            <a:r>
              <a:rPr lang="it-IT" dirty="0">
                <a:hlinkClick r:id="rId3"/>
              </a:rPr>
              <a:t> Documentation 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📖 </a:t>
            </a:r>
            <a:r>
              <a:rPr lang="en-US" dirty="0"/>
              <a:t>"Kafka: The Definitive Guide" (O'Reilly)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🎓 </a:t>
            </a:r>
            <a:r>
              <a:rPr lang="it-IT" dirty="0" err="1"/>
              <a:t>Confluent</a:t>
            </a:r>
            <a:r>
              <a:rPr lang="it-IT" dirty="0"/>
              <a:t> Developer </a:t>
            </a:r>
            <a:r>
              <a:rPr lang="it-IT" dirty="0" err="1"/>
              <a:t>courses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🐙 Apache Kafka official </a:t>
            </a:r>
            <a:r>
              <a:rPr lang="it-IT" dirty="0" err="1"/>
              <a:t>docs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0077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C94CE-84B9-4AEF-E174-643704AF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AF797DB5-6B20-D7AD-18EF-D803CD4BF18E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Q/A</a:t>
            </a:r>
          </a:p>
        </p:txBody>
      </p:sp>
      <p:pic>
        <p:nvPicPr>
          <p:cNvPr id="1028" name="Picture 4" descr="A Q&amp;A Session by the Asia Program on Quora - San Francisco Fed">
            <a:extLst>
              <a:ext uri="{FF2B5EF4-FFF2-40B4-BE49-F238E27FC236}">
                <a16:creationId xmlns:a16="http://schemas.microsoft.com/office/drawing/2014/main" id="{608A230E-F248-3240-E153-1C8AD211B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377" y="1768751"/>
            <a:ext cx="8301245" cy="332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70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62424-A4B7-F556-5894-4142C022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58">
            <a:extLst>
              <a:ext uri="{FF2B5EF4-FFF2-40B4-BE49-F238E27FC236}">
                <a16:creationId xmlns:a16="http://schemas.microsoft.com/office/drawing/2014/main" id="{BED0389A-DD34-8E58-F4E9-14D24CBBF9EF}"/>
              </a:ext>
            </a:extLst>
          </p:cNvPr>
          <p:cNvSpPr txBox="1">
            <a:spLocks/>
          </p:cNvSpPr>
          <p:nvPr/>
        </p:nvSpPr>
        <p:spPr bwMode="auto">
          <a:xfrm>
            <a:off x="2802631" y="391710"/>
            <a:ext cx="6583690" cy="694402"/>
          </a:xfrm>
          <a:prstGeom prst="rect">
            <a:avLst/>
          </a:prstGeo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r>
              <a:rPr kumimoji="0" lang="en-US" sz="37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Thank You!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6B1134-5846-642C-AA8B-3F36376386F0}"/>
              </a:ext>
            </a:extLst>
          </p:cNvPr>
          <p:cNvSpPr txBox="1"/>
          <p:nvPr/>
        </p:nvSpPr>
        <p:spPr>
          <a:xfrm>
            <a:off x="1671782" y="2177259"/>
            <a:ext cx="334471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Workshop repository: </a:t>
            </a:r>
            <a:r>
              <a:rPr lang="it-IT" dirty="0">
                <a:hlinkClick r:id="rId3"/>
              </a:rPr>
              <a:t>GitHub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it-IT" b="1" dirty="0"/>
              <a:t>Call to Action: </a:t>
            </a:r>
            <a:endParaRPr lang="it-IT" dirty="0"/>
          </a:p>
          <a:p>
            <a:r>
              <a:rPr lang="en-US" dirty="0"/>
              <a:t>Star the repository </a:t>
            </a:r>
          </a:p>
          <a:p>
            <a:r>
              <a:rPr lang="en-US" dirty="0"/>
              <a:t>Try building your own use case </a:t>
            </a:r>
          </a:p>
          <a:p>
            <a:r>
              <a:rPr lang="en-US" dirty="0"/>
              <a:t>Share your experience</a:t>
            </a:r>
          </a:p>
          <a:p>
            <a:endParaRPr lang="en-US" dirty="0"/>
          </a:p>
          <a:p>
            <a:r>
              <a:rPr lang="it-IT" b="1" dirty="0"/>
              <a:t>Happy Streaming!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4362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2407</TotalTime>
  <Words>1686</Words>
  <Application>Microsoft Office PowerPoint</Application>
  <PresentationFormat>Widescreen</PresentationFormat>
  <Paragraphs>491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ADLaM Display</vt:lpstr>
      <vt:lpstr>Aptos</vt:lpstr>
      <vt:lpstr>Arial</vt:lpstr>
      <vt:lpstr>Calibri</vt:lpstr>
      <vt:lpstr>Calibri Light</vt:lpstr>
      <vt:lpstr>Consolas</vt:lpstr>
      <vt:lpstr>Courier New</vt:lpstr>
      <vt:lpstr>Lato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Finconsgroup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Antonio</dc:creator>
  <cp:lastModifiedBy>Michele Caccia</cp:lastModifiedBy>
  <cp:revision>78</cp:revision>
  <dcterms:created xsi:type="dcterms:W3CDTF">2024-09-08T10:09:50Z</dcterms:created>
  <dcterms:modified xsi:type="dcterms:W3CDTF">2025-11-14T11:55:48Z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4e68b6-2567-46d2-bcf9-c31e5a51a8b5_Enabled">
    <vt:lpwstr>true</vt:lpwstr>
  </property>
  <property fmtid="{D5CDD505-2E9C-101B-9397-08002B2CF9AE}" pid="3" name="MSIP_Label_024e68b6-2567-46d2-bcf9-c31e5a51a8b5_SetDate">
    <vt:lpwstr>2024-10-12T16:07:40Z</vt:lpwstr>
  </property>
  <property fmtid="{D5CDD505-2E9C-101B-9397-08002B2CF9AE}" pid="4" name="MSIP_Label_024e68b6-2567-46d2-bcf9-c31e5a51a8b5_Method">
    <vt:lpwstr>Standard</vt:lpwstr>
  </property>
  <property fmtid="{D5CDD505-2E9C-101B-9397-08002B2CF9AE}" pid="5" name="MSIP_Label_024e68b6-2567-46d2-bcf9-c31e5a51a8b5_Name">
    <vt:lpwstr>Internal use</vt:lpwstr>
  </property>
  <property fmtid="{D5CDD505-2E9C-101B-9397-08002B2CF9AE}" pid="6" name="MSIP_Label_024e68b6-2567-46d2-bcf9-c31e5a51a8b5_SiteId">
    <vt:lpwstr>268996b6-3efa-4a68-96a7-1e6166de157a</vt:lpwstr>
  </property>
  <property fmtid="{D5CDD505-2E9C-101B-9397-08002B2CF9AE}" pid="7" name="MSIP_Label_024e68b6-2567-46d2-bcf9-c31e5a51a8b5_ActionId">
    <vt:lpwstr>348c2704-745a-4eae-8c75-42b096c1de48</vt:lpwstr>
  </property>
  <property fmtid="{D5CDD505-2E9C-101B-9397-08002B2CF9AE}" pid="8" name="MSIP_Label_024e68b6-2567-46d2-bcf9-c31e5a51a8b5_ContentBits">
    <vt:lpwstr>0</vt:lpwstr>
  </property>
</Properties>
</file>